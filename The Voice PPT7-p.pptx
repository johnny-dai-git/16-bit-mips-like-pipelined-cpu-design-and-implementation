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8" r:id="rId3"/>
    <p:sldId id="312" r:id="rId5"/>
    <p:sldId id="285" r:id="rId6"/>
    <p:sldId id="286" r:id="rId7"/>
    <p:sldId id="287" r:id="rId8"/>
    <p:sldId id="288" r:id="rId9"/>
    <p:sldId id="290" r:id="rId10"/>
    <p:sldId id="289" r:id="rId11"/>
    <p:sldId id="272" r:id="rId12"/>
    <p:sldId id="291" r:id="rId13"/>
    <p:sldId id="293" r:id="rId14"/>
    <p:sldId id="294" r:id="rId15"/>
    <p:sldId id="295" r:id="rId16"/>
    <p:sldId id="296" r:id="rId17"/>
    <p:sldId id="297" r:id="rId18"/>
    <p:sldId id="298" r:id="rId19"/>
    <p:sldId id="304" r:id="rId20"/>
    <p:sldId id="305" r:id="rId21"/>
    <p:sldId id="306" r:id="rId22"/>
    <p:sldId id="310" r:id="rId23"/>
    <p:sldId id="307" r:id="rId24"/>
    <p:sldId id="301" r:id="rId25"/>
    <p:sldId id="311" r:id="rId26"/>
    <p:sldId id="308" r:id="rId27"/>
    <p:sldId id="314" r:id="rId28"/>
    <p:sldId id="302" r:id="rId29"/>
    <p:sldId id="309" r:id="rId30"/>
    <p:sldId id="313" r:id="rId31"/>
    <p:sldId id="303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5" autoAdjust="0"/>
    <p:restoredTop sz="98158" autoAdjust="0"/>
  </p:normalViewPr>
  <p:slideViewPr>
    <p:cSldViewPr>
      <p:cViewPr varScale="1">
        <p:scale>
          <a:sx n="70" d="100"/>
          <a:sy n="70" d="100"/>
        </p:scale>
        <p:origin x="-138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98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2928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F52AAF-76FF-47AE-B088-2ECB881216B1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32F499-B84D-4765-8785-928686D49AB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32F499-B84D-4765-8785-928686D49AB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32F499-B84D-4765-8785-928686D49AB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32F499-B84D-4765-8785-928686D49AB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32F499-B84D-4765-8785-928686D49AB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32F499-B84D-4765-8785-928686D49AB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32F499-B84D-4765-8785-928686D49AB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32F499-B84D-4765-8785-928686D49AB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32F499-B84D-4765-8785-928686D49AB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32F499-B84D-4765-8785-928686D49AB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32F499-B84D-4765-8785-928686D49AB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32F499-B84D-4765-8785-928686D49AB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32F499-B84D-4765-8785-928686D49AB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32F499-B84D-4765-8785-928686D49AB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32F499-B84D-4765-8785-928686D49AB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32F499-B84D-4765-8785-928686D49AB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32F499-B84D-4765-8785-928686D49AB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32F499-B84D-4765-8785-928686D49AB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32F499-B84D-4765-8785-928686D49AB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32F499-B84D-4765-8785-928686D49AB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32F499-B84D-4765-8785-928686D49AB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32F499-B84D-4765-8785-928686D49AB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32F499-B84D-4765-8785-928686D49AB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32F499-B84D-4765-8785-928686D49AB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32F499-B84D-4765-8785-928686D49AB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32F499-B84D-4765-8785-928686D49AB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32F499-B84D-4765-8785-928686D49AB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32F499-B84D-4765-8785-928686D49AB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32F499-B84D-4765-8785-928686D49AB2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8DC4D-7200-481C-970B-008D5F494366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CB32-34C3-495D-A2FB-50EF38691090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BF9A1-01BE-4D58-AA5C-4206082203D8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DBE69-08B3-401F-9A87-094DAE017CD9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9C082-FD2D-42BA-9FEC-33A15AF0487F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FAD33-9D98-4D77-B865-4D7A90CF1342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A2DCA-0695-41F4-9F62-A44BE1784A8F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2619D-58E3-4FD8-A04F-35BE5A3E2338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7ADA7-B44B-496B-BD22-CC55A1B7C893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02920-2F56-4064-84FB-5559C513625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582FE-9DA7-4A0F-B7FA-2CCC3CA9609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A6412-5CD6-435F-8BB8-DFAFE9AE8A81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image" Target="../media/image22.png"/><Relationship Id="rId7" Type="http://schemas.openxmlformats.org/officeDocument/2006/relationships/image" Target="../media/image21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3" Type="http://schemas.openxmlformats.org/officeDocument/2006/relationships/notesSlide" Target="../notesSlides/notesSlide27.xml"/><Relationship Id="rId22" Type="http://schemas.openxmlformats.org/officeDocument/2006/relationships/slideLayout" Target="../slideLayouts/slideLayout2.xml"/><Relationship Id="rId21" Type="http://schemas.openxmlformats.org/officeDocument/2006/relationships/image" Target="../media/image35.png"/><Relationship Id="rId20" Type="http://schemas.openxmlformats.org/officeDocument/2006/relationships/image" Target="../media/image34.png"/><Relationship Id="rId2" Type="http://schemas.openxmlformats.org/officeDocument/2006/relationships/image" Target="../media/image16.png"/><Relationship Id="rId19" Type="http://schemas.openxmlformats.org/officeDocument/2006/relationships/image" Target="../media/image33.png"/><Relationship Id="rId18" Type="http://schemas.openxmlformats.org/officeDocument/2006/relationships/image" Target="../media/image32.png"/><Relationship Id="rId17" Type="http://schemas.openxmlformats.org/officeDocument/2006/relationships/image" Target="../media/image31.png"/><Relationship Id="rId16" Type="http://schemas.openxmlformats.org/officeDocument/2006/relationships/image" Target="../media/image30.png"/><Relationship Id="rId15" Type="http://schemas.openxmlformats.org/officeDocument/2006/relationships/image" Target="../media/image29.png"/><Relationship Id="rId14" Type="http://schemas.openxmlformats.org/officeDocument/2006/relationships/image" Target="../media/image28.png"/><Relationship Id="rId13" Type="http://schemas.openxmlformats.org/officeDocument/2006/relationships/image" Target="../media/image27.png"/><Relationship Id="rId12" Type="http://schemas.openxmlformats.org/officeDocument/2006/relationships/image" Target="../media/image26.png"/><Relationship Id="rId11" Type="http://schemas.openxmlformats.org/officeDocument/2006/relationships/image" Target="../media/image25.png"/><Relationship Id="rId10" Type="http://schemas.openxmlformats.org/officeDocument/2006/relationships/image" Target="../media/image24.png"/><Relationship Id="rId1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76200" y="533400"/>
            <a:ext cx="8991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200" y="155264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Voice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  <p:sp>
        <p:nvSpPr>
          <p:cNvPr id="10" name="Title 1"/>
          <p:cNvSpPr txBox="1"/>
          <p:nvPr/>
        </p:nvSpPr>
        <p:spPr>
          <a:xfrm>
            <a:off x="965575" y="1974979"/>
            <a:ext cx="7315200" cy="9105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/>
                <a:ea typeface="+mj-ea"/>
                <a:cs typeface="Times New Roman"/>
              </a:rPr>
              <a:t>16-bit</a:t>
            </a:r>
            <a:r>
              <a:rPr kumimoji="0" lang="en-US" sz="4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/>
                <a:ea typeface="+mj-ea"/>
                <a:cs typeface="Times New Roman"/>
              </a:rPr>
              <a:t> </a:t>
            </a:r>
            <a:r>
              <a:rPr kumimoji="0" lang="en-US" sz="44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/>
                <a:ea typeface="+mj-ea"/>
                <a:cs typeface="Times New Roman"/>
              </a:rPr>
              <a:t>MIPS Structure General Processor</a:t>
            </a:r>
            <a:endParaRPr kumimoji="0" lang="en-US" sz="4400" b="1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/>
              <a:ea typeface="+mj-ea"/>
              <a:cs typeface="Times New Roman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400" b="1" baseline="0" dirty="0" smtClean="0">
                <a:latin typeface="Times New Roman"/>
                <a:ea typeface="+mj-ea"/>
                <a:cs typeface="Times New Roman"/>
              </a:rPr>
              <a:t>Presentation 8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/>
              <a:ea typeface="+mj-ea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76200" y="533400"/>
            <a:ext cx="8991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200" y="155264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Voice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524000" y="2060848"/>
          <a:ext cx="6096000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Data path width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16 bit</a:t>
                      </a:r>
                      <a:endParaRPr 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Frequency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200 MHz</a:t>
                      </a:r>
                      <a:endParaRPr 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Pipeline stage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Voltage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1.1 V</a:t>
                      </a:r>
                      <a:endParaRPr 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Standard</a:t>
                      </a:r>
                      <a:r>
                        <a:rPr lang="en-US" baseline="0" dirty="0" smtClean="0"/>
                        <a:t> cell area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8502 um</a:t>
                      </a:r>
                      <a:r>
                        <a:rPr lang="en-US" baseline="30000" dirty="0" smtClean="0"/>
                        <a:t>2</a:t>
                      </a:r>
                      <a:endParaRPr lang="en-US" baseline="300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Allocation</a:t>
                      </a:r>
                      <a:r>
                        <a:rPr lang="en-US" baseline="0" dirty="0" smtClean="0"/>
                        <a:t> area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12996 um</a:t>
                      </a:r>
                      <a:r>
                        <a:rPr lang="en-US" baseline="30000" dirty="0" smtClean="0"/>
                        <a:t>2</a:t>
                      </a:r>
                      <a:endParaRPr 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Density 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61.4%</a:t>
                      </a:r>
                      <a:endParaRPr 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Total internal power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4.463 </a:t>
                      </a:r>
                      <a:r>
                        <a:rPr lang="en-US" dirty="0" err="1" smtClean="0"/>
                        <a:t>mW</a:t>
                      </a:r>
                      <a:endParaRPr 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Total switching</a:t>
                      </a:r>
                      <a:r>
                        <a:rPr lang="en-US" baseline="0" dirty="0" smtClean="0"/>
                        <a:t> power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1.753 </a:t>
                      </a:r>
                      <a:r>
                        <a:rPr lang="en-US" dirty="0" err="1" smtClean="0"/>
                        <a:t>mW</a:t>
                      </a:r>
                      <a:endParaRPr 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Total leakage power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0.05 </a:t>
                      </a:r>
                      <a:r>
                        <a:rPr lang="en-US" dirty="0" err="1" smtClean="0"/>
                        <a:t>mW</a:t>
                      </a:r>
                      <a:endParaRPr 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Total power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6.267 </a:t>
                      </a:r>
                      <a:r>
                        <a:rPr lang="en-US" dirty="0" err="1" smtClean="0"/>
                        <a:t>mW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267744" y="908720"/>
            <a:ext cx="43924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Specification</a:t>
            </a:r>
            <a:endParaRPr lang="en-US" sz="4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76200" y="533400"/>
            <a:ext cx="8991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200" y="155264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Voice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89822" y="836712"/>
            <a:ext cx="6887118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 smtClean="0"/>
              <a:t>Contents:</a:t>
            </a:r>
            <a:endParaRPr lang="en-US" altLang="zh-CN" sz="4000" dirty="0" smtClean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3200" dirty="0" smtClean="0"/>
              <a:t> Instruction set</a:t>
            </a:r>
            <a:endParaRPr lang="en-US" altLang="zh-CN" sz="3200" dirty="0" smtClean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3200" dirty="0" smtClean="0"/>
              <a:t> Single cycle </a:t>
            </a:r>
            <a:r>
              <a:rPr lang="en-US" altLang="zh-CN" sz="3200" dirty="0"/>
              <a:t>d</a:t>
            </a:r>
            <a:r>
              <a:rPr lang="en-US" altLang="zh-CN" sz="3200" dirty="0" smtClean="0"/>
              <a:t>esign</a:t>
            </a:r>
            <a:endParaRPr lang="en-US" altLang="zh-CN" sz="3200" dirty="0" smtClean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3200" dirty="0" smtClean="0"/>
              <a:t> Pipeline design</a:t>
            </a:r>
            <a:endParaRPr lang="en-US" altLang="zh-CN" sz="3200" dirty="0" smtClean="0"/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altLang="zh-CN" sz="3200" dirty="0" smtClean="0"/>
              <a:t> Assembler </a:t>
            </a:r>
            <a:endParaRPr lang="en-US" altLang="zh-CN" sz="3200" dirty="0" smtClean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3200" dirty="0"/>
              <a:t> </a:t>
            </a:r>
            <a:r>
              <a:rPr lang="en-US" altLang="zh-CN" sz="3200" dirty="0" smtClean="0"/>
              <a:t>Synthesize and Layout</a:t>
            </a:r>
            <a:endParaRPr lang="en-US" altLang="zh-CN" sz="3200" dirty="0" smtClean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3200" dirty="0" smtClean="0"/>
              <a:t> Demo</a:t>
            </a: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76200" y="533400"/>
            <a:ext cx="8991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200" y="155264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Voice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0" y="571480"/>
            <a:ext cx="3686172" cy="500066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3000" b="1" dirty="0" smtClean="0">
                <a:solidFill>
                  <a:schemeClr val="tx2"/>
                </a:solidFill>
              </a:rPr>
              <a:t>Instruction set:</a:t>
            </a:r>
            <a:endParaRPr lang="zh-CN" altLang="en-US" sz="3000" b="1" dirty="0">
              <a:solidFill>
                <a:schemeClr val="tx2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/>
        </p:nvGraphicFramePr>
        <p:xfrm>
          <a:off x="71470" y="1064916"/>
          <a:ext cx="9001124" cy="5699760"/>
        </p:xfrm>
        <a:graphic>
          <a:graphicData uri="http://schemas.openxmlformats.org/drawingml/2006/table">
            <a:tbl>
              <a:tblPr firstRow="1" firstCol="1" bandRow="1"/>
              <a:tblGrid>
                <a:gridCol w="562298"/>
                <a:gridCol w="828813"/>
                <a:gridCol w="2185053"/>
                <a:gridCol w="1356239"/>
                <a:gridCol w="1280894"/>
                <a:gridCol w="1130201"/>
                <a:gridCol w="1657626"/>
              </a:tblGrid>
              <a:tr h="312957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effectLst/>
                          <a:latin typeface="Calibri"/>
                          <a:ea typeface="宋体"/>
                          <a:cs typeface="Times New Roman"/>
                        </a:rPr>
                        <a:t> </a:t>
                      </a:r>
                      <a:endParaRPr lang="en-US" sz="2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  <a:latin typeface="Calibri"/>
                          <a:ea typeface="宋体"/>
                          <a:cs typeface="Times New Roman"/>
                        </a:rPr>
                        <a:t> </a:t>
                      </a:r>
                      <a:endParaRPr lang="en-US" sz="2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  <a:latin typeface="Calibri"/>
                          <a:ea typeface="宋体"/>
                          <a:cs typeface="Times New Roman"/>
                        </a:rPr>
                        <a:t>Opcode(15-11)</a:t>
                      </a:r>
                      <a:endParaRPr lang="en-US" sz="2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 err="1">
                          <a:effectLst/>
                          <a:latin typeface="Calibri"/>
                          <a:ea typeface="宋体"/>
                          <a:cs typeface="Times New Roman"/>
                        </a:rPr>
                        <a:t>Rs</a:t>
                      </a:r>
                      <a:r>
                        <a:rPr lang="en-US" sz="2200" kern="100" dirty="0">
                          <a:effectLst/>
                          <a:latin typeface="Calibri"/>
                          <a:ea typeface="宋体"/>
                          <a:cs typeface="Times New Roman"/>
                        </a:rPr>
                        <a:t>(10-8)</a:t>
                      </a:r>
                      <a:endParaRPr lang="en-US" sz="2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 err="1">
                          <a:effectLst/>
                          <a:latin typeface="Calibri"/>
                          <a:ea typeface="宋体"/>
                          <a:cs typeface="Times New Roman"/>
                        </a:rPr>
                        <a:t>Rt</a:t>
                      </a:r>
                      <a:r>
                        <a:rPr lang="en-US" sz="2200" kern="100" dirty="0">
                          <a:effectLst/>
                          <a:latin typeface="Calibri"/>
                          <a:ea typeface="宋体"/>
                          <a:cs typeface="Times New Roman"/>
                        </a:rPr>
                        <a:t>(7-5)</a:t>
                      </a:r>
                      <a:endParaRPr lang="en-US" sz="2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  <a:latin typeface="Calibri"/>
                          <a:ea typeface="宋体"/>
                          <a:cs typeface="Times New Roman"/>
                        </a:rPr>
                        <a:t>Rd(4-2)</a:t>
                      </a:r>
                      <a:endParaRPr lang="en-US" sz="2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 err="1">
                          <a:effectLst/>
                          <a:latin typeface="Calibri"/>
                          <a:ea typeface="宋体"/>
                          <a:cs typeface="Times New Roman"/>
                        </a:rPr>
                        <a:t>Shamt</a:t>
                      </a:r>
                      <a:r>
                        <a:rPr lang="en-US" sz="2200" kern="100" dirty="0">
                          <a:effectLst/>
                          <a:latin typeface="Calibri"/>
                          <a:ea typeface="宋体"/>
                          <a:cs typeface="Times New Roman"/>
                        </a:rPr>
                        <a:t>(1-0)</a:t>
                      </a:r>
                      <a:endParaRPr lang="en-US" sz="2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957">
                <a:tc rowSpan="8"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effectLst/>
                          <a:latin typeface="Calibri"/>
                          <a:ea typeface="宋体"/>
                          <a:cs typeface="Times New Roman"/>
                        </a:rPr>
                        <a:t>R</a:t>
                      </a:r>
                      <a:endParaRPr lang="en-US" sz="2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effectLst/>
                          <a:latin typeface="Calibri"/>
                          <a:ea typeface="宋体"/>
                          <a:cs typeface="Times New Roman"/>
                        </a:rPr>
                        <a:t>ADD</a:t>
                      </a:r>
                      <a:endParaRPr lang="en-US" sz="2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 smtClean="0">
                          <a:effectLst/>
                          <a:latin typeface="Calibri"/>
                          <a:ea typeface="宋体"/>
                          <a:cs typeface="Times New Roman"/>
                        </a:rPr>
                        <a:t>00</a:t>
                      </a:r>
                      <a:r>
                        <a:rPr lang="en-US" sz="2200" kern="10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宋体"/>
                          <a:cs typeface="Times New Roman"/>
                        </a:rPr>
                        <a:t>1</a:t>
                      </a:r>
                      <a:r>
                        <a:rPr lang="en-US" sz="2200" kern="100" dirty="0" smtClean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宋体"/>
                          <a:cs typeface="Times New Roman"/>
                        </a:rPr>
                        <a:t>00</a:t>
                      </a:r>
                      <a:endParaRPr lang="en-US" sz="2200" kern="100" dirty="0">
                        <a:solidFill>
                          <a:srgbClr val="FF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effectLst/>
                          <a:latin typeface="Calibri"/>
                          <a:ea typeface="宋体"/>
                          <a:cs typeface="Times New Roman"/>
                        </a:rPr>
                        <a:t> </a:t>
                      </a:r>
                      <a:endParaRPr lang="en-US" sz="2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  <a:latin typeface="Calibri"/>
                          <a:ea typeface="宋体"/>
                          <a:cs typeface="Times New Roman"/>
                        </a:rPr>
                        <a:t> </a:t>
                      </a:r>
                      <a:endParaRPr lang="en-US" sz="2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  <a:latin typeface="Calibri"/>
                          <a:ea typeface="宋体"/>
                          <a:cs typeface="Times New Roman"/>
                        </a:rPr>
                        <a:t> </a:t>
                      </a:r>
                      <a:endParaRPr lang="en-US" sz="2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  <a:latin typeface="Calibri"/>
                          <a:ea typeface="宋体"/>
                          <a:cs typeface="Times New Roman"/>
                        </a:rPr>
                        <a:t>00</a:t>
                      </a:r>
                      <a:endParaRPr lang="en-US" sz="2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957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effectLst/>
                          <a:latin typeface="Calibri"/>
                          <a:ea typeface="宋体"/>
                          <a:cs typeface="Times New Roman"/>
                        </a:rPr>
                        <a:t>SUB</a:t>
                      </a:r>
                      <a:endParaRPr lang="en-US" sz="2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 smtClean="0">
                          <a:effectLst/>
                          <a:latin typeface="Calibri"/>
                          <a:ea typeface="宋体"/>
                          <a:cs typeface="Times New Roman"/>
                        </a:rPr>
                        <a:t>00</a:t>
                      </a:r>
                      <a:r>
                        <a:rPr lang="en-US" sz="2200" kern="100" dirty="0" smtClean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宋体"/>
                          <a:cs typeface="Times New Roman"/>
                        </a:rPr>
                        <a:t>000</a:t>
                      </a:r>
                      <a:endParaRPr lang="en-US" sz="2200" kern="100" dirty="0">
                        <a:solidFill>
                          <a:srgbClr val="FF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  <a:latin typeface="Calibri"/>
                          <a:ea typeface="宋体"/>
                          <a:cs typeface="Times New Roman"/>
                        </a:rPr>
                        <a:t> </a:t>
                      </a:r>
                      <a:endParaRPr lang="en-US" sz="2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  <a:latin typeface="Calibri"/>
                          <a:ea typeface="宋体"/>
                          <a:cs typeface="Times New Roman"/>
                        </a:rPr>
                        <a:t> </a:t>
                      </a:r>
                      <a:endParaRPr lang="en-US" sz="2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  <a:latin typeface="Calibri"/>
                          <a:ea typeface="宋体"/>
                          <a:cs typeface="Times New Roman"/>
                        </a:rPr>
                        <a:t> </a:t>
                      </a:r>
                      <a:endParaRPr lang="en-US" sz="2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  <a:latin typeface="Calibri"/>
                          <a:ea typeface="宋体"/>
                          <a:cs typeface="Times New Roman"/>
                        </a:rPr>
                        <a:t>00</a:t>
                      </a:r>
                      <a:endParaRPr lang="en-US" sz="2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957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effectLst/>
                          <a:latin typeface="Calibri"/>
                          <a:ea typeface="宋体"/>
                          <a:cs typeface="Times New Roman"/>
                        </a:rPr>
                        <a:t>AND</a:t>
                      </a:r>
                      <a:endParaRPr lang="en-US" sz="2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 smtClean="0">
                          <a:effectLst/>
                          <a:latin typeface="Calibri"/>
                          <a:ea typeface="宋体"/>
                          <a:cs typeface="Times New Roman"/>
                        </a:rPr>
                        <a:t>00</a:t>
                      </a:r>
                      <a:r>
                        <a:rPr lang="en-US" sz="2200" kern="100" dirty="0" smtClean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宋体"/>
                          <a:cs typeface="Times New Roman"/>
                        </a:rPr>
                        <a:t>101</a:t>
                      </a:r>
                      <a:endParaRPr lang="en-US" sz="2200" kern="100" dirty="0">
                        <a:solidFill>
                          <a:srgbClr val="FF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  <a:latin typeface="Calibri"/>
                          <a:ea typeface="宋体"/>
                          <a:cs typeface="Times New Roman"/>
                        </a:rPr>
                        <a:t> </a:t>
                      </a:r>
                      <a:endParaRPr lang="en-US" sz="2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  <a:latin typeface="Calibri"/>
                          <a:ea typeface="宋体"/>
                          <a:cs typeface="Times New Roman"/>
                        </a:rPr>
                        <a:t> </a:t>
                      </a:r>
                      <a:endParaRPr lang="en-US" sz="2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  <a:latin typeface="Calibri"/>
                          <a:ea typeface="宋体"/>
                          <a:cs typeface="Times New Roman"/>
                        </a:rPr>
                        <a:t> </a:t>
                      </a:r>
                      <a:endParaRPr lang="en-US" sz="2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  <a:latin typeface="Calibri"/>
                          <a:ea typeface="宋体"/>
                          <a:cs typeface="Times New Roman"/>
                        </a:rPr>
                        <a:t>00</a:t>
                      </a:r>
                      <a:endParaRPr lang="en-US" sz="2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957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effectLst/>
                          <a:latin typeface="Calibri"/>
                          <a:ea typeface="宋体"/>
                          <a:cs typeface="Times New Roman"/>
                        </a:rPr>
                        <a:t>OR</a:t>
                      </a:r>
                      <a:endParaRPr lang="en-US" sz="2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 smtClean="0">
                          <a:effectLst/>
                          <a:latin typeface="Calibri"/>
                          <a:ea typeface="宋体"/>
                          <a:cs typeface="Times New Roman"/>
                        </a:rPr>
                        <a:t>00</a:t>
                      </a:r>
                      <a:r>
                        <a:rPr lang="en-US" sz="2200" kern="100" dirty="0" smtClean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宋体"/>
                          <a:cs typeface="Times New Roman"/>
                        </a:rPr>
                        <a:t>110</a:t>
                      </a:r>
                      <a:endParaRPr lang="en-US" sz="2200" kern="100" dirty="0">
                        <a:solidFill>
                          <a:srgbClr val="FF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effectLst/>
                          <a:latin typeface="Calibri"/>
                          <a:ea typeface="宋体"/>
                          <a:cs typeface="Times New Roman"/>
                        </a:rPr>
                        <a:t> </a:t>
                      </a:r>
                      <a:endParaRPr lang="en-US" sz="2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  <a:latin typeface="Calibri"/>
                          <a:ea typeface="宋体"/>
                          <a:cs typeface="Times New Roman"/>
                        </a:rPr>
                        <a:t> </a:t>
                      </a:r>
                      <a:endParaRPr lang="en-US" sz="2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  <a:latin typeface="Calibri"/>
                          <a:ea typeface="宋体"/>
                          <a:cs typeface="Times New Roman"/>
                        </a:rPr>
                        <a:t> </a:t>
                      </a:r>
                      <a:endParaRPr lang="en-US" sz="2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  <a:latin typeface="Calibri"/>
                          <a:ea typeface="宋体"/>
                          <a:cs typeface="Times New Roman"/>
                        </a:rPr>
                        <a:t>00</a:t>
                      </a:r>
                      <a:endParaRPr lang="en-US" sz="2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957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effectLst/>
                          <a:latin typeface="Calibri"/>
                          <a:ea typeface="宋体"/>
                          <a:cs typeface="Times New Roman"/>
                        </a:rPr>
                        <a:t>XOR</a:t>
                      </a:r>
                      <a:endParaRPr lang="en-US" sz="2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 smtClean="0">
                          <a:effectLst/>
                          <a:latin typeface="Calibri"/>
                          <a:ea typeface="宋体"/>
                          <a:cs typeface="Times New Roman"/>
                        </a:rPr>
                        <a:t>00</a:t>
                      </a:r>
                      <a:r>
                        <a:rPr lang="en-US" sz="2200" kern="100" dirty="0" smtClean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宋体"/>
                          <a:cs typeface="Times New Roman"/>
                        </a:rPr>
                        <a:t>001</a:t>
                      </a:r>
                      <a:endParaRPr lang="en-US" sz="2200" kern="100" dirty="0">
                        <a:solidFill>
                          <a:srgbClr val="FF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effectLst/>
                          <a:latin typeface="Calibri"/>
                          <a:ea typeface="宋体"/>
                          <a:cs typeface="Times New Roman"/>
                        </a:rPr>
                        <a:t> </a:t>
                      </a:r>
                      <a:endParaRPr lang="en-US" sz="2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  <a:latin typeface="Calibri"/>
                          <a:ea typeface="宋体"/>
                          <a:cs typeface="Times New Roman"/>
                        </a:rPr>
                        <a:t> </a:t>
                      </a:r>
                      <a:endParaRPr lang="en-US" sz="2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  <a:latin typeface="Calibri"/>
                          <a:ea typeface="宋体"/>
                          <a:cs typeface="Times New Roman"/>
                        </a:rPr>
                        <a:t> </a:t>
                      </a:r>
                      <a:endParaRPr lang="en-US" sz="2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  <a:latin typeface="Calibri"/>
                          <a:ea typeface="宋体"/>
                          <a:cs typeface="Times New Roman"/>
                        </a:rPr>
                        <a:t>00</a:t>
                      </a:r>
                      <a:endParaRPr lang="en-US" sz="2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957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effectLst/>
                          <a:latin typeface="Calibri"/>
                          <a:ea typeface="宋体"/>
                          <a:cs typeface="Times New Roman"/>
                        </a:rPr>
                        <a:t>SLL</a:t>
                      </a:r>
                      <a:endParaRPr lang="en-US" sz="2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 smtClean="0">
                          <a:effectLst/>
                          <a:latin typeface="Calibri"/>
                          <a:ea typeface="宋体"/>
                          <a:cs typeface="Times New Roman"/>
                        </a:rPr>
                        <a:t>00</a:t>
                      </a:r>
                      <a:r>
                        <a:rPr lang="en-US" sz="2200" kern="100" dirty="0" smtClean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宋体"/>
                          <a:cs typeface="Times New Roman"/>
                        </a:rPr>
                        <a:t>010</a:t>
                      </a:r>
                      <a:endParaRPr lang="en-US" sz="2200" kern="100" dirty="0">
                        <a:solidFill>
                          <a:srgbClr val="FF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effectLst/>
                          <a:latin typeface="Calibri"/>
                          <a:ea typeface="宋体"/>
                          <a:cs typeface="Times New Roman"/>
                        </a:rPr>
                        <a:t> </a:t>
                      </a:r>
                      <a:endParaRPr lang="en-US" sz="2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  <a:latin typeface="Calibri"/>
                          <a:ea typeface="宋体"/>
                          <a:cs typeface="Times New Roman"/>
                        </a:rPr>
                        <a:t> </a:t>
                      </a:r>
                      <a:endParaRPr lang="en-US" sz="2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  <a:latin typeface="Calibri"/>
                          <a:ea typeface="宋体"/>
                          <a:cs typeface="Times New Roman"/>
                        </a:rPr>
                        <a:t> </a:t>
                      </a:r>
                      <a:endParaRPr lang="en-US" sz="2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  <a:latin typeface="Calibri"/>
                          <a:ea typeface="宋体"/>
                          <a:cs typeface="Times New Roman"/>
                        </a:rPr>
                        <a:t>Amt(1-0)</a:t>
                      </a:r>
                      <a:endParaRPr lang="en-US" sz="2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957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  <a:latin typeface="Calibri"/>
                          <a:ea typeface="宋体"/>
                          <a:cs typeface="Times New Roman"/>
                        </a:rPr>
                        <a:t>SRL</a:t>
                      </a:r>
                      <a:endParaRPr lang="en-US" sz="2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 smtClean="0">
                          <a:effectLst/>
                          <a:latin typeface="Calibri"/>
                          <a:ea typeface="宋体"/>
                          <a:cs typeface="Times New Roman"/>
                        </a:rPr>
                        <a:t>00</a:t>
                      </a:r>
                      <a:r>
                        <a:rPr lang="en-US" sz="2200" kern="100" dirty="0" smtClean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宋体"/>
                          <a:cs typeface="Times New Roman"/>
                        </a:rPr>
                        <a:t>011</a:t>
                      </a:r>
                      <a:endParaRPr lang="en-US" sz="2200" kern="100" dirty="0">
                        <a:solidFill>
                          <a:srgbClr val="FF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effectLst/>
                          <a:latin typeface="Calibri"/>
                          <a:ea typeface="宋体"/>
                          <a:cs typeface="Times New Roman"/>
                        </a:rPr>
                        <a:t> </a:t>
                      </a:r>
                      <a:endParaRPr lang="en-US" sz="2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effectLst/>
                          <a:latin typeface="Calibri"/>
                          <a:ea typeface="宋体"/>
                          <a:cs typeface="Times New Roman"/>
                        </a:rPr>
                        <a:t> </a:t>
                      </a:r>
                      <a:endParaRPr lang="en-US" sz="2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  <a:latin typeface="Calibri"/>
                          <a:ea typeface="宋体"/>
                          <a:cs typeface="Times New Roman"/>
                        </a:rPr>
                        <a:t> </a:t>
                      </a:r>
                      <a:endParaRPr lang="en-US" sz="2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  <a:latin typeface="Calibri"/>
                          <a:ea typeface="宋体"/>
                          <a:cs typeface="Times New Roman"/>
                        </a:rPr>
                        <a:t>Amt(1-0)</a:t>
                      </a:r>
                      <a:endParaRPr lang="en-US" sz="2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957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effectLst/>
                          <a:highlight>
                            <a:srgbClr val="FFFF00"/>
                          </a:highlight>
                          <a:latin typeface="Calibri"/>
                          <a:ea typeface="宋体"/>
                          <a:cs typeface="Times New Roman"/>
                        </a:rPr>
                        <a:t>MUL</a:t>
                      </a:r>
                      <a:endParaRPr lang="en-US" sz="2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effectLst/>
                          <a:highlight>
                            <a:srgbClr val="FFFF00"/>
                          </a:highlight>
                          <a:latin typeface="Calibri"/>
                          <a:ea typeface="宋体"/>
                          <a:cs typeface="Times New Roman"/>
                        </a:rPr>
                        <a:t>00111</a:t>
                      </a:r>
                      <a:endParaRPr lang="en-US" sz="2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effectLst/>
                          <a:highlight>
                            <a:srgbClr val="FFFF00"/>
                          </a:highlight>
                          <a:latin typeface="Calibri"/>
                          <a:ea typeface="宋体"/>
                          <a:cs typeface="Times New Roman"/>
                        </a:rPr>
                        <a:t> </a:t>
                      </a:r>
                      <a:endParaRPr lang="en-US" sz="2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effectLst/>
                          <a:highlight>
                            <a:srgbClr val="FFFF00"/>
                          </a:highlight>
                          <a:latin typeface="Calibri"/>
                          <a:ea typeface="宋体"/>
                          <a:cs typeface="Times New Roman"/>
                        </a:rPr>
                        <a:t> </a:t>
                      </a:r>
                      <a:endParaRPr lang="en-US" sz="2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effectLst/>
                          <a:highlight>
                            <a:srgbClr val="FFFF00"/>
                          </a:highlight>
                          <a:latin typeface="Calibri"/>
                          <a:ea typeface="宋体"/>
                          <a:cs typeface="Times New Roman"/>
                        </a:rPr>
                        <a:t> </a:t>
                      </a:r>
                      <a:endParaRPr lang="en-US" sz="2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effectLst/>
                          <a:highlight>
                            <a:srgbClr val="FFFF00"/>
                          </a:highlight>
                          <a:latin typeface="Calibri"/>
                          <a:ea typeface="宋体"/>
                          <a:cs typeface="Times New Roman"/>
                        </a:rPr>
                        <a:t>00</a:t>
                      </a:r>
                      <a:endParaRPr lang="en-US" sz="2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2957">
                <a:tc rowSpan="6"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effectLst/>
                          <a:latin typeface="Calibri"/>
                          <a:ea typeface="宋体"/>
                          <a:cs typeface="Times New Roman"/>
                        </a:rPr>
                        <a:t>I</a:t>
                      </a:r>
                      <a:endParaRPr lang="en-US" sz="2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  <a:latin typeface="Calibri"/>
                          <a:ea typeface="宋体"/>
                          <a:cs typeface="Times New Roman"/>
                        </a:rPr>
                        <a:t>ADDi</a:t>
                      </a:r>
                      <a:endParaRPr lang="en-US" sz="2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 smtClean="0">
                          <a:effectLst/>
                          <a:latin typeface="Calibri"/>
                          <a:ea typeface="宋体"/>
                          <a:cs typeface="Times New Roman"/>
                        </a:rPr>
                        <a:t>01</a:t>
                      </a:r>
                      <a:r>
                        <a:rPr lang="en-US" sz="2200" kern="10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宋体"/>
                          <a:cs typeface="Times New Roman"/>
                        </a:rPr>
                        <a:t>1</a:t>
                      </a:r>
                      <a:r>
                        <a:rPr lang="en-US" sz="2200" kern="100" dirty="0" smtClean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宋体"/>
                          <a:cs typeface="Times New Roman"/>
                        </a:rPr>
                        <a:t>00</a:t>
                      </a:r>
                      <a:endParaRPr lang="en-US" sz="2200" kern="100" dirty="0">
                        <a:solidFill>
                          <a:srgbClr val="FF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effectLst/>
                          <a:latin typeface="Calibri"/>
                          <a:ea typeface="宋体"/>
                          <a:cs typeface="Times New Roman"/>
                        </a:rPr>
                        <a:t> </a:t>
                      </a:r>
                      <a:endParaRPr lang="en-US" sz="2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effectLst/>
                          <a:latin typeface="Calibri"/>
                          <a:ea typeface="宋体"/>
                          <a:cs typeface="Times New Roman"/>
                        </a:rPr>
                        <a:t> </a:t>
                      </a:r>
                      <a:endParaRPr lang="en-US" sz="2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effectLst/>
                          <a:latin typeface="Calibri"/>
                          <a:ea typeface="宋体"/>
                          <a:cs typeface="Times New Roman"/>
                        </a:rPr>
                        <a:t>Immediate(4-0)</a:t>
                      </a:r>
                      <a:endParaRPr lang="en-US" sz="2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312957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  <a:latin typeface="Calibri"/>
                          <a:ea typeface="宋体"/>
                          <a:cs typeface="Times New Roman"/>
                        </a:rPr>
                        <a:t>ANDi</a:t>
                      </a:r>
                      <a:endParaRPr lang="en-US" sz="2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 smtClean="0">
                          <a:effectLst/>
                          <a:latin typeface="Calibri"/>
                          <a:ea typeface="宋体"/>
                          <a:cs typeface="Times New Roman"/>
                        </a:rPr>
                        <a:t>01</a:t>
                      </a:r>
                      <a:r>
                        <a:rPr lang="en-US" sz="2200" kern="100" dirty="0" smtClean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宋体"/>
                          <a:cs typeface="Times New Roman"/>
                        </a:rPr>
                        <a:t>101</a:t>
                      </a:r>
                      <a:endParaRPr lang="en-US" sz="2200" kern="100" dirty="0">
                        <a:solidFill>
                          <a:srgbClr val="FF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effectLst/>
                          <a:latin typeface="Calibri"/>
                          <a:ea typeface="宋体"/>
                          <a:cs typeface="Times New Roman"/>
                        </a:rPr>
                        <a:t> </a:t>
                      </a:r>
                      <a:endParaRPr lang="en-US" sz="2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effectLst/>
                          <a:latin typeface="Calibri"/>
                          <a:ea typeface="宋体"/>
                          <a:cs typeface="Times New Roman"/>
                        </a:rPr>
                        <a:t> </a:t>
                      </a:r>
                      <a:endParaRPr lang="en-US" sz="2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effectLst/>
                          <a:latin typeface="Calibri"/>
                          <a:ea typeface="宋体"/>
                          <a:cs typeface="Times New Roman"/>
                        </a:rPr>
                        <a:t>Immediate(4-0)</a:t>
                      </a:r>
                      <a:endParaRPr lang="en-US" sz="2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312957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  <a:latin typeface="Calibri"/>
                          <a:ea typeface="宋体"/>
                          <a:cs typeface="Times New Roman"/>
                        </a:rPr>
                        <a:t>ORi</a:t>
                      </a:r>
                      <a:endParaRPr lang="en-US" sz="2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 smtClean="0">
                          <a:effectLst/>
                          <a:latin typeface="Calibri"/>
                          <a:ea typeface="宋体"/>
                          <a:cs typeface="Times New Roman"/>
                        </a:rPr>
                        <a:t>01</a:t>
                      </a:r>
                      <a:r>
                        <a:rPr lang="en-US" sz="2200" kern="100" dirty="0" smtClean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宋体"/>
                          <a:cs typeface="Times New Roman"/>
                        </a:rPr>
                        <a:t>110</a:t>
                      </a:r>
                      <a:endParaRPr lang="en-US" sz="2200" kern="100" dirty="0">
                        <a:solidFill>
                          <a:srgbClr val="FF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  <a:latin typeface="Calibri"/>
                          <a:ea typeface="宋体"/>
                          <a:cs typeface="Times New Roman"/>
                        </a:rPr>
                        <a:t> </a:t>
                      </a:r>
                      <a:endParaRPr lang="en-US" sz="2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effectLst/>
                          <a:latin typeface="Calibri"/>
                          <a:ea typeface="宋体"/>
                          <a:cs typeface="Times New Roman"/>
                        </a:rPr>
                        <a:t> </a:t>
                      </a:r>
                      <a:endParaRPr lang="en-US" sz="2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effectLst/>
                          <a:latin typeface="Calibri"/>
                          <a:ea typeface="宋体"/>
                          <a:cs typeface="Times New Roman"/>
                        </a:rPr>
                        <a:t>Immediate(4-0)</a:t>
                      </a:r>
                      <a:endParaRPr lang="en-US" sz="2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312957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effectLst/>
                          <a:latin typeface="Calibri"/>
                          <a:ea typeface="宋体"/>
                          <a:cs typeface="Times New Roman"/>
                        </a:rPr>
                        <a:t>LW</a:t>
                      </a:r>
                      <a:endParaRPr lang="en-US" sz="2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 smtClean="0">
                          <a:effectLst/>
                          <a:latin typeface="Calibri"/>
                          <a:ea typeface="宋体"/>
                          <a:cs typeface="Times New Roman"/>
                        </a:rPr>
                        <a:t>10</a:t>
                      </a:r>
                      <a:r>
                        <a:rPr lang="en-US" sz="2200" kern="10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宋体"/>
                          <a:cs typeface="Times New Roman"/>
                        </a:rPr>
                        <a:t>1</a:t>
                      </a:r>
                      <a:r>
                        <a:rPr lang="en-US" sz="2200" kern="100" dirty="0" smtClean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宋体"/>
                          <a:cs typeface="Times New Roman"/>
                        </a:rPr>
                        <a:t>00</a:t>
                      </a:r>
                      <a:endParaRPr lang="en-US" sz="2200" kern="100" dirty="0">
                        <a:solidFill>
                          <a:srgbClr val="FF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  <a:latin typeface="Calibri"/>
                          <a:ea typeface="宋体"/>
                          <a:cs typeface="Times New Roman"/>
                        </a:rPr>
                        <a:t> </a:t>
                      </a:r>
                      <a:endParaRPr lang="en-US" sz="2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  <a:latin typeface="Calibri"/>
                          <a:ea typeface="宋体"/>
                          <a:cs typeface="Times New Roman"/>
                        </a:rPr>
                        <a:t> </a:t>
                      </a:r>
                      <a:endParaRPr lang="en-US" sz="2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effectLst/>
                          <a:latin typeface="Calibri"/>
                          <a:ea typeface="宋体"/>
                          <a:cs typeface="Times New Roman"/>
                        </a:rPr>
                        <a:t>Immediate(4-0)</a:t>
                      </a:r>
                      <a:endParaRPr lang="en-US" sz="2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312957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  <a:latin typeface="Calibri"/>
                          <a:ea typeface="宋体"/>
                          <a:cs typeface="Times New Roman"/>
                        </a:rPr>
                        <a:t>SW</a:t>
                      </a:r>
                      <a:endParaRPr lang="en-US" sz="2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 smtClean="0">
                          <a:effectLst/>
                          <a:latin typeface="Calibri"/>
                          <a:ea typeface="宋体"/>
                          <a:cs typeface="Times New Roman"/>
                        </a:rPr>
                        <a:t>11</a:t>
                      </a:r>
                      <a:r>
                        <a:rPr lang="en-US" sz="2200" kern="10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宋体"/>
                          <a:cs typeface="Times New Roman"/>
                        </a:rPr>
                        <a:t>1</a:t>
                      </a:r>
                      <a:r>
                        <a:rPr lang="en-US" sz="2200" kern="100" dirty="0" smtClean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宋体"/>
                          <a:cs typeface="Times New Roman"/>
                        </a:rPr>
                        <a:t>00</a:t>
                      </a:r>
                      <a:endParaRPr lang="en-US" sz="2200" kern="100" dirty="0">
                        <a:solidFill>
                          <a:srgbClr val="FF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  <a:latin typeface="Calibri"/>
                          <a:ea typeface="宋体"/>
                          <a:cs typeface="Times New Roman"/>
                        </a:rPr>
                        <a:t> </a:t>
                      </a:r>
                      <a:endParaRPr lang="en-US" sz="2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  <a:latin typeface="Calibri"/>
                          <a:ea typeface="宋体"/>
                          <a:cs typeface="Times New Roman"/>
                        </a:rPr>
                        <a:t> </a:t>
                      </a:r>
                      <a:endParaRPr lang="en-US" sz="2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effectLst/>
                          <a:latin typeface="Calibri"/>
                          <a:ea typeface="宋体"/>
                          <a:cs typeface="Times New Roman"/>
                        </a:rPr>
                        <a:t>Immediate(4-0)</a:t>
                      </a:r>
                      <a:endParaRPr lang="en-US" sz="2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312957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  <a:latin typeface="Calibri"/>
                          <a:ea typeface="宋体"/>
                          <a:cs typeface="Times New Roman"/>
                        </a:rPr>
                        <a:t>BEG</a:t>
                      </a:r>
                      <a:endParaRPr lang="en-US" sz="2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 smtClean="0">
                          <a:effectLst/>
                          <a:latin typeface="Calibri"/>
                          <a:ea typeface="宋体"/>
                          <a:cs typeface="Times New Roman"/>
                        </a:rPr>
                        <a:t>11</a:t>
                      </a:r>
                      <a:r>
                        <a:rPr lang="en-US" sz="2200" kern="100" dirty="0" smtClean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宋体"/>
                          <a:cs typeface="Times New Roman"/>
                        </a:rPr>
                        <a:t>000</a:t>
                      </a:r>
                      <a:endParaRPr lang="en-US" sz="2200" kern="100" dirty="0">
                        <a:solidFill>
                          <a:srgbClr val="FF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  <a:latin typeface="Calibri"/>
                          <a:ea typeface="宋体"/>
                          <a:cs typeface="Times New Roman"/>
                        </a:rPr>
                        <a:t> </a:t>
                      </a:r>
                      <a:endParaRPr lang="en-US" sz="2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  <a:latin typeface="Calibri"/>
                          <a:ea typeface="宋体"/>
                          <a:cs typeface="Times New Roman"/>
                        </a:rPr>
                        <a:t> </a:t>
                      </a:r>
                      <a:endParaRPr lang="en-US" sz="2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effectLst/>
                          <a:latin typeface="Calibri"/>
                          <a:ea typeface="宋体"/>
                          <a:cs typeface="Times New Roman"/>
                        </a:rPr>
                        <a:t>Immediate(4-0)</a:t>
                      </a:r>
                      <a:endParaRPr lang="en-US" sz="2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312957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effectLst/>
                          <a:latin typeface="Calibri"/>
                          <a:ea typeface="宋体"/>
                          <a:cs typeface="Times New Roman"/>
                        </a:rPr>
                        <a:t>J</a:t>
                      </a:r>
                      <a:endParaRPr lang="en-US" sz="2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>
                          <a:effectLst/>
                          <a:latin typeface="Calibri"/>
                          <a:ea typeface="宋体"/>
                          <a:cs typeface="Times New Roman"/>
                        </a:rPr>
                        <a:t>J</a:t>
                      </a:r>
                      <a:endParaRPr lang="en-US" sz="2200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 smtClean="0">
                          <a:effectLst/>
                          <a:latin typeface="Calibri"/>
                          <a:ea typeface="宋体"/>
                          <a:cs typeface="Times New Roman"/>
                        </a:rPr>
                        <a:t>100XX</a:t>
                      </a:r>
                      <a:endParaRPr lang="en-US" sz="2200" kern="100" dirty="0">
                        <a:solidFill>
                          <a:srgbClr val="FF0000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>
                          <a:effectLst/>
                          <a:latin typeface="Calibri"/>
                          <a:ea typeface="宋体"/>
                          <a:cs typeface="Times New Roman"/>
                        </a:rPr>
                        <a:t>Address (10-0)</a:t>
                      </a:r>
                      <a:endParaRPr lang="en-US" sz="2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12957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 smtClean="0">
                          <a:effectLst/>
                          <a:latin typeface="Calibri"/>
                          <a:ea typeface="宋体"/>
                          <a:cs typeface="Times New Roman"/>
                        </a:rPr>
                        <a:t>HLT</a:t>
                      </a:r>
                      <a:endParaRPr lang="en-US" sz="2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 smtClean="0">
                          <a:effectLst/>
                          <a:latin typeface="Calibri"/>
                          <a:ea typeface="宋体"/>
                          <a:cs typeface="Times New Roman"/>
                        </a:rPr>
                        <a:t>halt</a:t>
                      </a:r>
                      <a:endParaRPr lang="en-US" sz="2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kern="100" dirty="0" smtClean="0">
                          <a:solidFill>
                            <a:schemeClr val="tx1"/>
                          </a:solidFill>
                          <a:effectLst/>
                          <a:latin typeface="Calibri"/>
                          <a:ea typeface="宋体"/>
                          <a:cs typeface="Times New Roman"/>
                        </a:rPr>
                        <a:t>010XX</a:t>
                      </a:r>
                      <a:endParaRPr lang="en-US" sz="22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76200" y="533400"/>
            <a:ext cx="8991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200" y="155264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Voice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0" y="571480"/>
            <a:ext cx="3686172" cy="500066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3000" b="1" dirty="0" smtClean="0">
                <a:solidFill>
                  <a:schemeClr val="tx2"/>
                </a:solidFill>
              </a:rPr>
              <a:t>Instruction set:</a:t>
            </a:r>
            <a:endParaRPr lang="zh-CN" altLang="en-US" sz="3000" b="1" dirty="0">
              <a:solidFill>
                <a:schemeClr val="tx2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  <p:pic>
        <p:nvPicPr>
          <p:cNvPr id="28673" name="Picture 1" descr="C:\Users\Administrator\AppData\Roaming\Tencent\Users\980105987\QQ\WinTemp\RichOle\`BON8(WP[K2UPMOSJ)F%HMR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14282" y="1428736"/>
            <a:ext cx="2857520" cy="5214974"/>
          </a:xfrm>
          <a:prstGeom prst="rect">
            <a:avLst/>
          </a:prstGeom>
          <a:noFill/>
        </p:spPr>
      </p:pic>
      <p:sp>
        <p:nvSpPr>
          <p:cNvPr id="10" name="矩形 9"/>
          <p:cNvSpPr/>
          <p:nvPr/>
        </p:nvSpPr>
        <p:spPr>
          <a:xfrm>
            <a:off x="1357290" y="1714488"/>
            <a:ext cx="357190" cy="49292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3214676" y="2000241"/>
          <a:ext cx="5786482" cy="4071964"/>
        </p:xfrm>
        <a:graphic>
          <a:graphicData uri="http://schemas.openxmlformats.org/drawingml/2006/table">
            <a:tbl>
              <a:tblPr/>
              <a:tblGrid>
                <a:gridCol w="857258"/>
                <a:gridCol w="648062"/>
                <a:gridCol w="713299"/>
                <a:gridCol w="713299"/>
                <a:gridCol w="713299"/>
                <a:gridCol w="713299"/>
                <a:gridCol w="713983"/>
                <a:gridCol w="713983"/>
              </a:tblGrid>
              <a:tr h="37189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n-US" sz="1050" kern="100" dirty="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R 00x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iA 011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Lw 101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Sw 111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BEG 110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J 100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宋体"/>
                          <a:cs typeface="Times New Roman"/>
                        </a:rPr>
                        <a:t>Halt 010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6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 dirty="0" err="1">
                          <a:latin typeface="Calibri"/>
                          <a:ea typeface="PMingLiU"/>
                          <a:cs typeface="Times New Roman"/>
                        </a:rPr>
                        <a:t>RegDst</a:t>
                      </a:r>
                      <a:endParaRPr lang="zh-CN" sz="1050" kern="100" dirty="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latin typeface="Calibri"/>
                          <a:ea typeface="PMingLiU"/>
                          <a:cs typeface="Times New Roman"/>
                        </a:rPr>
                        <a:t>1</a:t>
                      </a:r>
                      <a:endParaRPr lang="zh-CN" sz="1050" kern="100" dirty="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latin typeface="Calibri"/>
                          <a:ea typeface="PMingLiU"/>
                          <a:cs typeface="Times New Roman"/>
                        </a:rPr>
                        <a:t>0</a:t>
                      </a:r>
                      <a:endParaRPr lang="zh-CN" sz="1050" kern="100" dirty="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6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Branch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latin typeface="Calibri"/>
                          <a:ea typeface="PMingLiU"/>
                          <a:cs typeface="Times New Roman"/>
                        </a:rPr>
                        <a:t>0</a:t>
                      </a:r>
                      <a:endParaRPr lang="zh-CN" sz="1050" kern="100" dirty="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1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6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Jump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latin typeface="Calibri"/>
                          <a:ea typeface="PMingLiU"/>
                          <a:cs typeface="Times New Roman"/>
                        </a:rPr>
                        <a:t>0</a:t>
                      </a:r>
                      <a:endParaRPr lang="zh-CN" sz="1050" kern="100" dirty="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latin typeface="Calibri"/>
                          <a:ea typeface="PMingLiU"/>
                          <a:cs typeface="Times New Roman"/>
                        </a:rPr>
                        <a:t>0</a:t>
                      </a:r>
                      <a:endParaRPr lang="zh-CN" sz="1050" kern="100" dirty="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1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6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MemRead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latin typeface="Calibri"/>
                          <a:ea typeface="PMingLiU"/>
                          <a:cs typeface="Times New Roman"/>
                        </a:rPr>
                        <a:t>0</a:t>
                      </a:r>
                      <a:endParaRPr lang="zh-CN" sz="1050" kern="100" dirty="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latin typeface="Calibri"/>
                          <a:ea typeface="PMingLiU"/>
                          <a:cs typeface="Times New Roman"/>
                        </a:rPr>
                        <a:t>1</a:t>
                      </a:r>
                      <a:endParaRPr lang="zh-CN" sz="1050" kern="100" dirty="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503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 dirty="0" err="1">
                          <a:latin typeface="Calibri"/>
                          <a:ea typeface="PMingLiU"/>
                          <a:cs typeface="Times New Roman"/>
                        </a:rPr>
                        <a:t>MemtoReg</a:t>
                      </a:r>
                      <a:endParaRPr lang="zh-CN" sz="1050" kern="100" dirty="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1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1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latin typeface="Calibri"/>
                          <a:ea typeface="PMingLiU"/>
                          <a:cs typeface="Times New Roman"/>
                        </a:rPr>
                        <a:t>0</a:t>
                      </a:r>
                      <a:endParaRPr lang="zh-CN" sz="1050" kern="100" dirty="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latin typeface="Calibri"/>
                          <a:ea typeface="PMingLiU"/>
                          <a:cs typeface="Times New Roman"/>
                        </a:rPr>
                        <a:t>1</a:t>
                      </a:r>
                      <a:endParaRPr lang="zh-CN" sz="1050" kern="100" dirty="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1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X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189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 dirty="0" err="1">
                          <a:latin typeface="Calibri"/>
                          <a:ea typeface="PMingLiU"/>
                          <a:cs typeface="Times New Roman"/>
                        </a:rPr>
                        <a:t>MemWrite</a:t>
                      </a:r>
                      <a:endParaRPr lang="zh-CN" sz="1050" kern="100" dirty="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latin typeface="Calibri"/>
                          <a:ea typeface="PMingLiU"/>
                          <a:cs typeface="Times New Roman"/>
                        </a:rPr>
                        <a:t>1</a:t>
                      </a:r>
                      <a:endParaRPr lang="zh-CN" sz="1050" kern="100" dirty="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latin typeface="Calibri"/>
                          <a:ea typeface="PMingLiU"/>
                          <a:cs typeface="Times New Roman"/>
                        </a:rPr>
                        <a:t>0</a:t>
                      </a:r>
                      <a:endParaRPr lang="zh-CN" sz="1050" kern="100" dirty="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6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RegWrite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1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1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1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latin typeface="Calibri"/>
                          <a:ea typeface="PMingLiU"/>
                          <a:cs typeface="Times New Roman"/>
                        </a:rPr>
                        <a:t>0</a:t>
                      </a:r>
                      <a:endParaRPr lang="zh-CN" sz="1050" kern="100" dirty="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latin typeface="Calibri"/>
                          <a:ea typeface="PMingLiU"/>
                          <a:cs typeface="Times New Roman"/>
                        </a:rPr>
                        <a:t>0</a:t>
                      </a:r>
                      <a:endParaRPr lang="zh-CN" sz="1050" kern="100" dirty="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41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ALUSrc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1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1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1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latin typeface="Calibri"/>
                          <a:ea typeface="PMingLiU"/>
                          <a:cs typeface="Times New Roman"/>
                        </a:rPr>
                        <a:t>x</a:t>
                      </a:r>
                      <a:endParaRPr lang="zh-CN" sz="1050" kern="100" dirty="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latin typeface="Calibri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 dirty="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41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Regread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latin typeface="Calibri"/>
                          <a:ea typeface="PMingLiU"/>
                          <a:cs typeface="Times New Roman"/>
                        </a:rPr>
                        <a:t>1</a:t>
                      </a:r>
                      <a:endParaRPr lang="zh-CN" sz="1050" kern="100" dirty="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1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1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1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1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Calibri"/>
                          <a:ea typeface="PMingLiU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latin typeface="Calibri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 dirty="0">
                        <a:latin typeface="Calibri"/>
                        <a:ea typeface="PMingLiU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上弧形箭头 14"/>
          <p:cNvSpPr/>
          <p:nvPr/>
        </p:nvSpPr>
        <p:spPr>
          <a:xfrm rot="452066">
            <a:off x="1829354" y="1241732"/>
            <a:ext cx="3886203" cy="360730"/>
          </a:xfrm>
          <a:prstGeom prst="curvedDownArrow">
            <a:avLst>
              <a:gd name="adj1" fmla="val 33409"/>
              <a:gd name="adj2" fmla="val 84920"/>
              <a:gd name="adj3" fmla="val 460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71868" y="916528"/>
            <a:ext cx="357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Send to the Control unit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76200" y="533400"/>
            <a:ext cx="8991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200" y="155264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Voice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0" y="571480"/>
            <a:ext cx="3686172" cy="500066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3000" b="1" dirty="0" smtClean="0">
                <a:solidFill>
                  <a:schemeClr val="tx2"/>
                </a:solidFill>
              </a:rPr>
              <a:t>Instruction set:</a:t>
            </a:r>
            <a:endParaRPr lang="zh-CN" altLang="en-US" sz="3000" b="1" dirty="0">
              <a:solidFill>
                <a:schemeClr val="tx2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  <p:pic>
        <p:nvPicPr>
          <p:cNvPr id="28673" name="Picture 1" descr="C:\Users\Administrator\AppData\Roaming\Tencent\Users\980105987\QQ\WinTemp\RichOle\`BON8(WP[K2UPMOSJ)F%HMR.jp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14282" y="1428736"/>
            <a:ext cx="2857520" cy="5214974"/>
          </a:xfrm>
          <a:prstGeom prst="rect">
            <a:avLst/>
          </a:prstGeom>
          <a:noFill/>
        </p:spPr>
      </p:pic>
      <p:sp>
        <p:nvSpPr>
          <p:cNvPr id="10" name="矩形 9"/>
          <p:cNvSpPr/>
          <p:nvPr/>
        </p:nvSpPr>
        <p:spPr>
          <a:xfrm>
            <a:off x="1587622" y="1714488"/>
            <a:ext cx="357190" cy="49292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上弧形箭头 14"/>
          <p:cNvSpPr/>
          <p:nvPr/>
        </p:nvSpPr>
        <p:spPr>
          <a:xfrm rot="481567">
            <a:off x="1509309" y="1269852"/>
            <a:ext cx="3892203" cy="404032"/>
          </a:xfrm>
          <a:prstGeom prst="curvedDownArrow">
            <a:avLst>
              <a:gd name="adj1" fmla="val 33409"/>
              <a:gd name="adj2" fmla="val 84920"/>
              <a:gd name="adj3" fmla="val 460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43306" y="1000108"/>
            <a:ext cx="357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Send to the ALU</a:t>
            </a:r>
            <a:endParaRPr lang="zh-CN" altLang="en-US" dirty="0"/>
          </a:p>
        </p:txBody>
      </p:sp>
      <p:graphicFrame>
        <p:nvGraphicFramePr>
          <p:cNvPr id="11" name="Table 5"/>
          <p:cNvGraphicFramePr>
            <a:graphicFrameLocks noGrp="1"/>
          </p:cNvGraphicFramePr>
          <p:nvPr/>
        </p:nvGraphicFramePr>
        <p:xfrm>
          <a:off x="3286116" y="2071678"/>
          <a:ext cx="5429289" cy="42638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8609"/>
                <a:gridCol w="1995340"/>
                <a:gridCol w="1995340"/>
              </a:tblGrid>
              <a:tr h="47376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Operation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Instruction[13-11]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Specific</a:t>
                      </a:r>
                      <a:r>
                        <a:rPr lang="en-US" baseline="0" dirty="0" smtClean="0"/>
                        <a:t> o</a:t>
                      </a:r>
                      <a:r>
                        <a:rPr lang="en-US" dirty="0" smtClean="0"/>
                        <a:t>peration</a:t>
                      </a:r>
                      <a:endParaRPr lang="en-US" dirty="0"/>
                    </a:p>
                  </a:txBody>
                  <a:tcPr/>
                </a:tc>
              </a:tr>
              <a:tr h="4737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Add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100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 smtClean="0"/>
                        <a:t>Add,Addi,LW,SW</a:t>
                      </a:r>
                      <a:endParaRPr lang="en-US" sz="1800" dirty="0"/>
                    </a:p>
                  </a:txBody>
                  <a:tcPr/>
                </a:tc>
              </a:tr>
              <a:tr h="4737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SUB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000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/>
                        <a:t>Sub,BEQ</a:t>
                      </a:r>
                      <a:endParaRPr lang="en-US" sz="2400" dirty="0"/>
                    </a:p>
                  </a:txBody>
                  <a:tcPr/>
                </a:tc>
              </a:tr>
              <a:tr h="4737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AND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101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/>
                        <a:t>AND,ANDi</a:t>
                      </a:r>
                      <a:endParaRPr lang="en-US" sz="2400" dirty="0"/>
                    </a:p>
                  </a:txBody>
                  <a:tcPr/>
                </a:tc>
              </a:tr>
              <a:tr h="4737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OR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110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/>
                        <a:t>OR,Ori</a:t>
                      </a:r>
                      <a:endParaRPr lang="en-US" sz="2400" dirty="0"/>
                    </a:p>
                  </a:txBody>
                  <a:tcPr/>
                </a:tc>
              </a:tr>
              <a:tr h="4737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XOR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001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</a:tr>
              <a:tr h="4737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SLL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010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</a:tr>
              <a:tr h="4737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SRL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011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</a:tr>
              <a:tr h="4737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MUL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111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0" y="571480"/>
            <a:ext cx="4961142" cy="576064"/>
          </a:xfrm>
        </p:spPr>
        <p:txBody>
          <a:bodyPr>
            <a:noAutofit/>
          </a:bodyPr>
          <a:lstStyle/>
          <a:p>
            <a:r>
              <a:rPr lang="en-US" sz="2700" dirty="0" smtClean="0">
                <a:solidFill>
                  <a:schemeClr val="tx2"/>
                </a:solidFill>
              </a:rPr>
              <a:t>Control unit structure:</a:t>
            </a:r>
            <a:endParaRPr lang="en-US" sz="2700" dirty="0">
              <a:solidFill>
                <a:schemeClr val="tx2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601544" y="6316844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6200" y="533400"/>
            <a:ext cx="8991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200" y="155264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Voice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 l="11474" t="21588" r="13690" b="8818"/>
          <a:stretch>
            <a:fillRect/>
          </a:stretch>
        </p:blipFill>
        <p:spPr>
          <a:xfrm>
            <a:off x="500034" y="1214422"/>
            <a:ext cx="8001056" cy="50145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6200" y="533400"/>
            <a:ext cx="8991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200" y="155264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Voice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0582" y="544488"/>
            <a:ext cx="307326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700" b="1" dirty="0" smtClean="0">
                <a:solidFill>
                  <a:schemeClr val="tx2"/>
                </a:solidFill>
              </a:rPr>
              <a:t>ALU Structure:</a:t>
            </a:r>
            <a:endParaRPr lang="en-US" sz="2700" b="1" dirty="0">
              <a:solidFill>
                <a:schemeClr val="tx2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5" t="10722" r="14921" b="6423"/>
          <a:stretch>
            <a:fillRect/>
          </a:stretch>
        </p:blipFill>
        <p:spPr>
          <a:xfrm>
            <a:off x="464456" y="1129263"/>
            <a:ext cx="7851960" cy="54848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2490" y="524596"/>
            <a:ext cx="2988426" cy="456132"/>
          </a:xfrm>
        </p:spPr>
        <p:txBody>
          <a:bodyPr>
            <a:noAutofit/>
          </a:bodyPr>
          <a:lstStyle/>
          <a:p>
            <a:r>
              <a:rPr lang="en-US" sz="2700" dirty="0" smtClean="0">
                <a:solidFill>
                  <a:schemeClr val="tx2"/>
                </a:solidFill>
              </a:rPr>
              <a:t>Single Cycle Design:</a:t>
            </a:r>
            <a:endParaRPr lang="en-US" sz="2700" dirty="0">
              <a:solidFill>
                <a:schemeClr val="tx2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6200" y="533400"/>
            <a:ext cx="8991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200" y="155264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Voice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tretch>
            <a:fillRect/>
          </a:stretch>
        </p:blipFill>
        <p:spPr bwMode="auto">
          <a:xfrm>
            <a:off x="541406" y="1142984"/>
            <a:ext cx="7959683" cy="54256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76200" y="534712"/>
            <a:ext cx="4068546" cy="456132"/>
          </a:xfrm>
        </p:spPr>
        <p:txBody>
          <a:bodyPr>
            <a:noAutofit/>
          </a:bodyPr>
          <a:lstStyle/>
          <a:p>
            <a:r>
              <a:rPr lang="en-US" sz="2700" dirty="0" smtClean="0">
                <a:solidFill>
                  <a:schemeClr val="tx2"/>
                </a:solidFill>
              </a:rPr>
              <a:t>Single Cycle Design:</a:t>
            </a:r>
            <a:endParaRPr lang="en-US" sz="2700" dirty="0">
              <a:solidFill>
                <a:schemeClr val="tx2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6200" y="533400"/>
            <a:ext cx="8991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200" y="155264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Voice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tretch>
            <a:fillRect/>
          </a:stretch>
        </p:blipFill>
        <p:spPr bwMode="auto">
          <a:xfrm>
            <a:off x="541406" y="1142984"/>
            <a:ext cx="7959683" cy="54256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矩形 9"/>
          <p:cNvSpPr/>
          <p:nvPr/>
        </p:nvSpPr>
        <p:spPr>
          <a:xfrm>
            <a:off x="1285852" y="3429000"/>
            <a:ext cx="1214446" cy="20717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6500826" y="3714752"/>
            <a:ext cx="1214446" cy="20717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571472" y="6072206"/>
            <a:ext cx="46434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FF0000"/>
                </a:solidFill>
              </a:rPr>
              <a:t>Pull of, add to the test bench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76200" y="533400"/>
            <a:ext cx="2484370" cy="456132"/>
          </a:xfrm>
        </p:spPr>
        <p:txBody>
          <a:bodyPr>
            <a:noAutofit/>
          </a:bodyPr>
          <a:lstStyle/>
          <a:p>
            <a:r>
              <a:rPr lang="en-US" sz="2700" dirty="0" smtClean="0">
                <a:solidFill>
                  <a:schemeClr val="tx2"/>
                </a:solidFill>
              </a:rPr>
              <a:t>Pipeline Design:</a:t>
            </a:r>
            <a:endParaRPr lang="en-US" sz="2700" dirty="0">
              <a:solidFill>
                <a:schemeClr val="tx2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6200" y="533400"/>
            <a:ext cx="8991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200" y="155264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Voice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6866" name="Picture 2" descr="H:\pipeline.png"/>
          <p:cNvPicPr>
            <a:picLocks noChangeAspect="1" noChangeArrowheads="1"/>
          </p:cNvPicPr>
          <p:nvPr/>
        </p:nvPicPr>
        <p:blipFill>
          <a:blip r:embed="rId1"/>
          <a:srcRect l="6817" t="16898" r="13666" b="15511"/>
          <a:stretch>
            <a:fillRect/>
          </a:stretch>
        </p:blipFill>
        <p:spPr bwMode="auto">
          <a:xfrm>
            <a:off x="0" y="980727"/>
            <a:ext cx="9063696" cy="5577659"/>
          </a:xfrm>
          <a:prstGeom prst="rect">
            <a:avLst/>
          </a:prstGeom>
          <a:noFill/>
        </p:spPr>
      </p:pic>
      <p:sp>
        <p:nvSpPr>
          <p:cNvPr id="10" name="矩形 9"/>
          <p:cNvSpPr/>
          <p:nvPr/>
        </p:nvSpPr>
        <p:spPr>
          <a:xfrm>
            <a:off x="1331640" y="2170492"/>
            <a:ext cx="344760" cy="371480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929058" y="1952972"/>
            <a:ext cx="357190" cy="4643446"/>
          </a:xfrm>
          <a:prstGeom prst="rect">
            <a:avLst/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572264" y="2420888"/>
            <a:ext cx="357190" cy="4286256"/>
          </a:xfrm>
          <a:prstGeom prst="rect">
            <a:avLst/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7786710" y="4214818"/>
            <a:ext cx="357190" cy="2343568"/>
          </a:xfrm>
          <a:prstGeom prst="rect">
            <a:avLst/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76200" y="533400"/>
            <a:ext cx="2643206" cy="456132"/>
          </a:xfrm>
        </p:spPr>
        <p:txBody>
          <a:bodyPr>
            <a:noAutofit/>
          </a:bodyPr>
          <a:lstStyle/>
          <a:p>
            <a:r>
              <a:rPr lang="en-US" sz="2700" dirty="0" smtClean="0">
                <a:solidFill>
                  <a:schemeClr val="tx2"/>
                </a:solidFill>
              </a:rPr>
              <a:t>Pipeline Design:</a:t>
            </a:r>
            <a:endParaRPr lang="en-US" sz="2700" dirty="0">
              <a:solidFill>
                <a:schemeClr val="tx2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6200" y="533400"/>
            <a:ext cx="8991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200" y="155264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Voice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85720" y="1571612"/>
            <a:ext cx="37862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600" dirty="0" smtClean="0"/>
              <a:t>*Assembly file</a:t>
            </a:r>
            <a:endParaRPr lang="en-US" altLang="zh-CN" sz="3600" dirty="0" smtClean="0"/>
          </a:p>
          <a:p>
            <a:pPr>
              <a:lnSpc>
                <a:spcPct val="150000"/>
              </a:lnSpc>
            </a:pPr>
            <a:r>
              <a:rPr lang="en-US" altLang="zh-CN" sz="3600" dirty="0" err="1" smtClean="0"/>
              <a:t>Addi</a:t>
            </a:r>
            <a:r>
              <a:rPr lang="en-US" altLang="zh-CN" sz="3600" dirty="0" smtClean="0"/>
              <a:t> R0, R1, 7</a:t>
            </a:r>
            <a:endParaRPr lang="en-US" altLang="zh-CN" sz="3600" dirty="0" smtClean="0"/>
          </a:p>
          <a:p>
            <a:pPr>
              <a:lnSpc>
                <a:spcPct val="150000"/>
              </a:lnSpc>
            </a:pPr>
            <a:r>
              <a:rPr lang="en-US" altLang="zh-CN" sz="3600" dirty="0" smtClean="0"/>
              <a:t>Add   R1, R2, R0</a:t>
            </a:r>
            <a:endParaRPr lang="zh-CN" altLang="en-US" sz="3600" dirty="0"/>
          </a:p>
        </p:txBody>
      </p:sp>
      <p:sp>
        <p:nvSpPr>
          <p:cNvPr id="16" name="任意多边形 15"/>
          <p:cNvSpPr/>
          <p:nvPr/>
        </p:nvSpPr>
        <p:spPr>
          <a:xfrm>
            <a:off x="1214414" y="2428868"/>
            <a:ext cx="785818" cy="941201"/>
          </a:xfrm>
          <a:custGeom>
            <a:avLst/>
            <a:gdLst>
              <a:gd name="connsiteX0" fmla="*/ 568036 w 942109"/>
              <a:gd name="connsiteY0" fmla="*/ 1061569 h 1103133"/>
              <a:gd name="connsiteX1" fmla="*/ 401781 w 942109"/>
              <a:gd name="connsiteY1" fmla="*/ 1033860 h 1103133"/>
              <a:gd name="connsiteX2" fmla="*/ 318654 w 942109"/>
              <a:gd name="connsiteY2" fmla="*/ 1006151 h 1103133"/>
              <a:gd name="connsiteX3" fmla="*/ 277090 w 942109"/>
              <a:gd name="connsiteY3" fmla="*/ 992297 h 1103133"/>
              <a:gd name="connsiteX4" fmla="*/ 235527 w 942109"/>
              <a:gd name="connsiteY4" fmla="*/ 964588 h 1103133"/>
              <a:gd name="connsiteX5" fmla="*/ 207818 w 942109"/>
              <a:gd name="connsiteY5" fmla="*/ 936878 h 1103133"/>
              <a:gd name="connsiteX6" fmla="*/ 166254 w 942109"/>
              <a:gd name="connsiteY6" fmla="*/ 923024 h 1103133"/>
              <a:gd name="connsiteX7" fmla="*/ 152400 w 942109"/>
              <a:gd name="connsiteY7" fmla="*/ 881460 h 1103133"/>
              <a:gd name="connsiteX8" fmla="*/ 124690 w 942109"/>
              <a:gd name="connsiteY8" fmla="*/ 853751 h 1103133"/>
              <a:gd name="connsiteX9" fmla="*/ 69272 w 942109"/>
              <a:gd name="connsiteY9" fmla="*/ 729060 h 1103133"/>
              <a:gd name="connsiteX10" fmla="*/ 41563 w 942109"/>
              <a:gd name="connsiteY10" fmla="*/ 645933 h 1103133"/>
              <a:gd name="connsiteX11" fmla="*/ 27709 w 942109"/>
              <a:gd name="connsiteY11" fmla="*/ 604369 h 1103133"/>
              <a:gd name="connsiteX12" fmla="*/ 0 w 942109"/>
              <a:gd name="connsiteY12" fmla="*/ 410406 h 1103133"/>
              <a:gd name="connsiteX13" fmla="*/ 27709 w 942109"/>
              <a:gd name="connsiteY13" fmla="*/ 271860 h 1103133"/>
              <a:gd name="connsiteX14" fmla="*/ 69272 w 942109"/>
              <a:gd name="connsiteY14" fmla="*/ 202588 h 1103133"/>
              <a:gd name="connsiteX15" fmla="*/ 83127 w 942109"/>
              <a:gd name="connsiteY15" fmla="*/ 161024 h 1103133"/>
              <a:gd name="connsiteX16" fmla="*/ 69272 w 942109"/>
              <a:gd name="connsiteY16" fmla="*/ 119460 h 1103133"/>
              <a:gd name="connsiteX17" fmla="*/ 110836 w 942109"/>
              <a:gd name="connsiteY17" fmla="*/ 91751 h 1103133"/>
              <a:gd name="connsiteX18" fmla="*/ 207818 w 942109"/>
              <a:gd name="connsiteY18" fmla="*/ 64042 h 1103133"/>
              <a:gd name="connsiteX19" fmla="*/ 249381 w 942109"/>
              <a:gd name="connsiteY19" fmla="*/ 36333 h 1103133"/>
              <a:gd name="connsiteX20" fmla="*/ 581890 w 942109"/>
              <a:gd name="connsiteY20" fmla="*/ 77897 h 1103133"/>
              <a:gd name="connsiteX21" fmla="*/ 609600 w 942109"/>
              <a:gd name="connsiteY21" fmla="*/ 105606 h 1103133"/>
              <a:gd name="connsiteX22" fmla="*/ 637309 w 942109"/>
              <a:gd name="connsiteY22" fmla="*/ 147169 h 1103133"/>
              <a:gd name="connsiteX23" fmla="*/ 678872 w 942109"/>
              <a:gd name="connsiteY23" fmla="*/ 174878 h 1103133"/>
              <a:gd name="connsiteX24" fmla="*/ 734290 w 942109"/>
              <a:gd name="connsiteY24" fmla="*/ 244151 h 1103133"/>
              <a:gd name="connsiteX25" fmla="*/ 789709 w 942109"/>
              <a:gd name="connsiteY25" fmla="*/ 313424 h 1103133"/>
              <a:gd name="connsiteX26" fmla="*/ 845127 w 942109"/>
              <a:gd name="connsiteY26" fmla="*/ 396551 h 1103133"/>
              <a:gd name="connsiteX27" fmla="*/ 858981 w 942109"/>
              <a:gd name="connsiteY27" fmla="*/ 438115 h 1103133"/>
              <a:gd name="connsiteX28" fmla="*/ 886690 w 942109"/>
              <a:gd name="connsiteY28" fmla="*/ 479678 h 1103133"/>
              <a:gd name="connsiteX29" fmla="*/ 928254 w 942109"/>
              <a:gd name="connsiteY29" fmla="*/ 604369 h 1103133"/>
              <a:gd name="connsiteX30" fmla="*/ 942109 w 942109"/>
              <a:gd name="connsiteY30" fmla="*/ 645933 h 1103133"/>
              <a:gd name="connsiteX31" fmla="*/ 928254 w 942109"/>
              <a:gd name="connsiteY31" fmla="*/ 936878 h 1103133"/>
              <a:gd name="connsiteX32" fmla="*/ 886690 w 942109"/>
              <a:gd name="connsiteY32" fmla="*/ 1006151 h 1103133"/>
              <a:gd name="connsiteX33" fmla="*/ 845127 w 942109"/>
              <a:gd name="connsiteY33" fmla="*/ 1033860 h 1103133"/>
              <a:gd name="connsiteX34" fmla="*/ 706581 w 942109"/>
              <a:gd name="connsiteY34" fmla="*/ 1075424 h 1103133"/>
              <a:gd name="connsiteX35" fmla="*/ 595745 w 942109"/>
              <a:gd name="connsiteY35" fmla="*/ 1089278 h 1103133"/>
              <a:gd name="connsiteX36" fmla="*/ 512618 w 942109"/>
              <a:gd name="connsiteY36" fmla="*/ 1103133 h 1103133"/>
              <a:gd name="connsiteX37" fmla="*/ 401781 w 942109"/>
              <a:gd name="connsiteY37" fmla="*/ 1089278 h 1103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942109" h="1103133">
                <a:moveTo>
                  <a:pt x="568036" y="1061569"/>
                </a:moveTo>
                <a:cubicBezTo>
                  <a:pt x="512618" y="1052333"/>
                  <a:pt x="456626" y="1046048"/>
                  <a:pt x="401781" y="1033860"/>
                </a:cubicBezTo>
                <a:cubicBezTo>
                  <a:pt x="373269" y="1027524"/>
                  <a:pt x="346363" y="1015387"/>
                  <a:pt x="318654" y="1006151"/>
                </a:cubicBezTo>
                <a:lnTo>
                  <a:pt x="277090" y="992297"/>
                </a:lnTo>
                <a:cubicBezTo>
                  <a:pt x="263236" y="983061"/>
                  <a:pt x="248529" y="974990"/>
                  <a:pt x="235527" y="964588"/>
                </a:cubicBezTo>
                <a:cubicBezTo>
                  <a:pt x="225327" y="956428"/>
                  <a:pt x="219019" y="943599"/>
                  <a:pt x="207818" y="936878"/>
                </a:cubicBezTo>
                <a:cubicBezTo>
                  <a:pt x="195295" y="929364"/>
                  <a:pt x="180109" y="927642"/>
                  <a:pt x="166254" y="923024"/>
                </a:cubicBezTo>
                <a:cubicBezTo>
                  <a:pt x="161636" y="909169"/>
                  <a:pt x="159914" y="893983"/>
                  <a:pt x="152400" y="881460"/>
                </a:cubicBezTo>
                <a:cubicBezTo>
                  <a:pt x="145679" y="870259"/>
                  <a:pt x="130532" y="865434"/>
                  <a:pt x="124690" y="853751"/>
                </a:cubicBezTo>
                <a:cubicBezTo>
                  <a:pt x="25757" y="655888"/>
                  <a:pt x="150785" y="851331"/>
                  <a:pt x="69272" y="729060"/>
                </a:cubicBezTo>
                <a:lnTo>
                  <a:pt x="41563" y="645933"/>
                </a:lnTo>
                <a:cubicBezTo>
                  <a:pt x="36945" y="632078"/>
                  <a:pt x="30110" y="618774"/>
                  <a:pt x="27709" y="604369"/>
                </a:cubicBezTo>
                <a:cubicBezTo>
                  <a:pt x="7733" y="484516"/>
                  <a:pt x="17338" y="549116"/>
                  <a:pt x="0" y="410406"/>
                </a:cubicBezTo>
                <a:cubicBezTo>
                  <a:pt x="9236" y="364224"/>
                  <a:pt x="12816" y="316540"/>
                  <a:pt x="27709" y="271860"/>
                </a:cubicBezTo>
                <a:cubicBezTo>
                  <a:pt x="36224" y="246314"/>
                  <a:pt x="57229" y="226673"/>
                  <a:pt x="69272" y="202588"/>
                </a:cubicBezTo>
                <a:cubicBezTo>
                  <a:pt x="75803" y="189526"/>
                  <a:pt x="78509" y="174879"/>
                  <a:pt x="83127" y="161024"/>
                </a:cubicBezTo>
                <a:cubicBezTo>
                  <a:pt x="78509" y="147169"/>
                  <a:pt x="63848" y="133020"/>
                  <a:pt x="69272" y="119460"/>
                </a:cubicBezTo>
                <a:cubicBezTo>
                  <a:pt x="75456" y="104000"/>
                  <a:pt x="95943" y="99197"/>
                  <a:pt x="110836" y="91751"/>
                </a:cubicBezTo>
                <a:cubicBezTo>
                  <a:pt x="130708" y="81815"/>
                  <a:pt x="190068" y="68480"/>
                  <a:pt x="207818" y="64042"/>
                </a:cubicBezTo>
                <a:cubicBezTo>
                  <a:pt x="221672" y="54806"/>
                  <a:pt x="232745" y="37026"/>
                  <a:pt x="249381" y="36333"/>
                </a:cubicBezTo>
                <a:cubicBezTo>
                  <a:pt x="411325" y="29586"/>
                  <a:pt x="484518" y="0"/>
                  <a:pt x="581890" y="77897"/>
                </a:cubicBezTo>
                <a:cubicBezTo>
                  <a:pt x="592090" y="86057"/>
                  <a:pt x="601440" y="95406"/>
                  <a:pt x="609600" y="105606"/>
                </a:cubicBezTo>
                <a:cubicBezTo>
                  <a:pt x="620002" y="118608"/>
                  <a:pt x="625535" y="135395"/>
                  <a:pt x="637309" y="147169"/>
                </a:cubicBezTo>
                <a:cubicBezTo>
                  <a:pt x="649083" y="158943"/>
                  <a:pt x="665870" y="164476"/>
                  <a:pt x="678872" y="174878"/>
                </a:cubicBezTo>
                <a:cubicBezTo>
                  <a:pt x="716040" y="204613"/>
                  <a:pt x="702286" y="204147"/>
                  <a:pt x="734290" y="244151"/>
                </a:cubicBezTo>
                <a:cubicBezTo>
                  <a:pt x="813252" y="342851"/>
                  <a:pt x="704431" y="185506"/>
                  <a:pt x="789709" y="313424"/>
                </a:cubicBezTo>
                <a:cubicBezTo>
                  <a:pt x="822650" y="412253"/>
                  <a:pt x="775940" y="292771"/>
                  <a:pt x="845127" y="396551"/>
                </a:cubicBezTo>
                <a:cubicBezTo>
                  <a:pt x="853228" y="408702"/>
                  <a:pt x="852450" y="425053"/>
                  <a:pt x="858981" y="438115"/>
                </a:cubicBezTo>
                <a:cubicBezTo>
                  <a:pt x="866427" y="453008"/>
                  <a:pt x="879927" y="464462"/>
                  <a:pt x="886690" y="479678"/>
                </a:cubicBezTo>
                <a:cubicBezTo>
                  <a:pt x="886698" y="479695"/>
                  <a:pt x="921324" y="583578"/>
                  <a:pt x="928254" y="604369"/>
                </a:cubicBezTo>
                <a:lnTo>
                  <a:pt x="942109" y="645933"/>
                </a:lnTo>
                <a:cubicBezTo>
                  <a:pt x="937491" y="742915"/>
                  <a:pt x="936317" y="840122"/>
                  <a:pt x="928254" y="936878"/>
                </a:cubicBezTo>
                <a:cubicBezTo>
                  <a:pt x="925480" y="970162"/>
                  <a:pt x="911122" y="986606"/>
                  <a:pt x="886690" y="1006151"/>
                </a:cubicBezTo>
                <a:cubicBezTo>
                  <a:pt x="873688" y="1016553"/>
                  <a:pt x="860343" y="1027097"/>
                  <a:pt x="845127" y="1033860"/>
                </a:cubicBezTo>
                <a:cubicBezTo>
                  <a:pt x="822956" y="1043714"/>
                  <a:pt x="738820" y="1070051"/>
                  <a:pt x="706581" y="1075424"/>
                </a:cubicBezTo>
                <a:cubicBezTo>
                  <a:pt x="669855" y="1081545"/>
                  <a:pt x="632604" y="1084012"/>
                  <a:pt x="595745" y="1089278"/>
                </a:cubicBezTo>
                <a:cubicBezTo>
                  <a:pt x="567936" y="1093251"/>
                  <a:pt x="540327" y="1098515"/>
                  <a:pt x="512618" y="1103133"/>
                </a:cubicBezTo>
                <a:cubicBezTo>
                  <a:pt x="411064" y="1088625"/>
                  <a:pt x="448292" y="1089278"/>
                  <a:pt x="401781" y="1089278"/>
                </a:cubicBezTo>
              </a:path>
            </a:pathLst>
          </a:cu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/>
        </p:nvSpPr>
        <p:spPr>
          <a:xfrm>
            <a:off x="2714612" y="3286124"/>
            <a:ext cx="1100039" cy="997527"/>
          </a:xfrm>
          <a:custGeom>
            <a:avLst/>
            <a:gdLst>
              <a:gd name="connsiteX0" fmla="*/ 389794 w 1100039"/>
              <a:gd name="connsiteY0" fmla="*/ 997527 h 997527"/>
              <a:gd name="connsiteX1" fmla="*/ 348230 w 1100039"/>
              <a:gd name="connsiteY1" fmla="*/ 983673 h 997527"/>
              <a:gd name="connsiteX2" fmla="*/ 195830 w 1100039"/>
              <a:gd name="connsiteY2" fmla="*/ 886691 h 997527"/>
              <a:gd name="connsiteX3" fmla="*/ 112703 w 1100039"/>
              <a:gd name="connsiteY3" fmla="*/ 762000 h 997527"/>
              <a:gd name="connsiteX4" fmla="*/ 84994 w 1100039"/>
              <a:gd name="connsiteY4" fmla="*/ 720437 h 997527"/>
              <a:gd name="connsiteX5" fmla="*/ 57285 w 1100039"/>
              <a:gd name="connsiteY5" fmla="*/ 637309 h 997527"/>
              <a:gd name="connsiteX6" fmla="*/ 29576 w 1100039"/>
              <a:gd name="connsiteY6" fmla="*/ 554182 h 997527"/>
              <a:gd name="connsiteX7" fmla="*/ 15721 w 1100039"/>
              <a:gd name="connsiteY7" fmla="*/ 512618 h 997527"/>
              <a:gd name="connsiteX8" fmla="*/ 1867 w 1100039"/>
              <a:gd name="connsiteY8" fmla="*/ 401782 h 997527"/>
              <a:gd name="connsiteX9" fmla="*/ 15721 w 1100039"/>
              <a:gd name="connsiteY9" fmla="*/ 207818 h 997527"/>
              <a:gd name="connsiteX10" fmla="*/ 71139 w 1100039"/>
              <a:gd name="connsiteY10" fmla="*/ 124691 h 997527"/>
              <a:gd name="connsiteX11" fmla="*/ 98848 w 1100039"/>
              <a:gd name="connsiteY11" fmla="*/ 83127 h 997527"/>
              <a:gd name="connsiteX12" fmla="*/ 223539 w 1100039"/>
              <a:gd name="connsiteY12" fmla="*/ 41564 h 997527"/>
              <a:gd name="connsiteX13" fmla="*/ 320521 w 1100039"/>
              <a:gd name="connsiteY13" fmla="*/ 13855 h 997527"/>
              <a:gd name="connsiteX14" fmla="*/ 417503 w 1100039"/>
              <a:gd name="connsiteY14" fmla="*/ 0 h 997527"/>
              <a:gd name="connsiteX15" fmla="*/ 639176 w 1100039"/>
              <a:gd name="connsiteY15" fmla="*/ 13855 h 997527"/>
              <a:gd name="connsiteX16" fmla="*/ 722303 w 1100039"/>
              <a:gd name="connsiteY16" fmla="*/ 41564 h 997527"/>
              <a:gd name="connsiteX17" fmla="*/ 763867 w 1100039"/>
              <a:gd name="connsiteY17" fmla="*/ 55418 h 997527"/>
              <a:gd name="connsiteX18" fmla="*/ 805430 w 1100039"/>
              <a:gd name="connsiteY18" fmla="*/ 83127 h 997527"/>
              <a:gd name="connsiteX19" fmla="*/ 833139 w 1100039"/>
              <a:gd name="connsiteY19" fmla="*/ 110837 h 997527"/>
              <a:gd name="connsiteX20" fmla="*/ 916267 w 1100039"/>
              <a:gd name="connsiteY20" fmla="*/ 166255 h 997527"/>
              <a:gd name="connsiteX21" fmla="*/ 985539 w 1100039"/>
              <a:gd name="connsiteY21" fmla="*/ 249382 h 997527"/>
              <a:gd name="connsiteX22" fmla="*/ 1054812 w 1100039"/>
              <a:gd name="connsiteY22" fmla="*/ 318655 h 997527"/>
              <a:gd name="connsiteX23" fmla="*/ 1068667 w 1100039"/>
              <a:gd name="connsiteY23" fmla="*/ 360218 h 997527"/>
              <a:gd name="connsiteX24" fmla="*/ 1068667 w 1100039"/>
              <a:gd name="connsiteY24" fmla="*/ 651164 h 997527"/>
              <a:gd name="connsiteX25" fmla="*/ 1040958 w 1100039"/>
              <a:gd name="connsiteY25" fmla="*/ 734291 h 997527"/>
              <a:gd name="connsiteX26" fmla="*/ 971685 w 1100039"/>
              <a:gd name="connsiteY26" fmla="*/ 789709 h 997527"/>
              <a:gd name="connsiteX27" fmla="*/ 902412 w 1100039"/>
              <a:gd name="connsiteY27" fmla="*/ 845127 h 997527"/>
              <a:gd name="connsiteX28" fmla="*/ 874703 w 1100039"/>
              <a:gd name="connsiteY28" fmla="*/ 872837 h 997527"/>
              <a:gd name="connsiteX29" fmla="*/ 791576 w 1100039"/>
              <a:gd name="connsiteY29" fmla="*/ 900546 h 997527"/>
              <a:gd name="connsiteX30" fmla="*/ 750012 w 1100039"/>
              <a:gd name="connsiteY30" fmla="*/ 914400 h 997527"/>
              <a:gd name="connsiteX31" fmla="*/ 639176 w 1100039"/>
              <a:gd name="connsiteY31" fmla="*/ 955964 h 997527"/>
              <a:gd name="connsiteX32" fmla="*/ 542194 w 1100039"/>
              <a:gd name="connsiteY32" fmla="*/ 983673 h 997527"/>
              <a:gd name="connsiteX33" fmla="*/ 278958 w 1100039"/>
              <a:gd name="connsiteY33" fmla="*/ 983673 h 997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100039" h="997527">
                <a:moveTo>
                  <a:pt x="389794" y="997527"/>
                </a:moveTo>
                <a:cubicBezTo>
                  <a:pt x="375939" y="992909"/>
                  <a:pt x="360910" y="990919"/>
                  <a:pt x="348230" y="983673"/>
                </a:cubicBezTo>
                <a:cubicBezTo>
                  <a:pt x="295950" y="953799"/>
                  <a:pt x="195830" y="886691"/>
                  <a:pt x="195830" y="886691"/>
                </a:cubicBezTo>
                <a:lnTo>
                  <a:pt x="112703" y="762000"/>
                </a:lnTo>
                <a:cubicBezTo>
                  <a:pt x="103467" y="748146"/>
                  <a:pt x="90259" y="736233"/>
                  <a:pt x="84994" y="720437"/>
                </a:cubicBezTo>
                <a:lnTo>
                  <a:pt x="57285" y="637309"/>
                </a:lnTo>
                <a:lnTo>
                  <a:pt x="29576" y="554182"/>
                </a:lnTo>
                <a:lnTo>
                  <a:pt x="15721" y="512618"/>
                </a:lnTo>
                <a:cubicBezTo>
                  <a:pt x="11103" y="475673"/>
                  <a:pt x="1867" y="439015"/>
                  <a:pt x="1867" y="401782"/>
                </a:cubicBezTo>
                <a:cubicBezTo>
                  <a:pt x="1867" y="336963"/>
                  <a:pt x="0" y="270702"/>
                  <a:pt x="15721" y="207818"/>
                </a:cubicBezTo>
                <a:cubicBezTo>
                  <a:pt x="23798" y="175510"/>
                  <a:pt x="52666" y="152400"/>
                  <a:pt x="71139" y="124691"/>
                </a:cubicBezTo>
                <a:cubicBezTo>
                  <a:pt x="80375" y="110836"/>
                  <a:pt x="83051" y="88393"/>
                  <a:pt x="98848" y="83127"/>
                </a:cubicBezTo>
                <a:lnTo>
                  <a:pt x="223539" y="41564"/>
                </a:lnTo>
                <a:cubicBezTo>
                  <a:pt x="259156" y="29692"/>
                  <a:pt x="282241" y="20815"/>
                  <a:pt x="320521" y="13855"/>
                </a:cubicBezTo>
                <a:cubicBezTo>
                  <a:pt x="352650" y="8013"/>
                  <a:pt x="385176" y="4618"/>
                  <a:pt x="417503" y="0"/>
                </a:cubicBezTo>
                <a:cubicBezTo>
                  <a:pt x="491394" y="4618"/>
                  <a:pt x="565820" y="3852"/>
                  <a:pt x="639176" y="13855"/>
                </a:cubicBezTo>
                <a:cubicBezTo>
                  <a:pt x="668116" y="17801"/>
                  <a:pt x="694594" y="32328"/>
                  <a:pt x="722303" y="41564"/>
                </a:cubicBezTo>
                <a:lnTo>
                  <a:pt x="763867" y="55418"/>
                </a:lnTo>
                <a:cubicBezTo>
                  <a:pt x="777721" y="64654"/>
                  <a:pt x="792428" y="72725"/>
                  <a:pt x="805430" y="83127"/>
                </a:cubicBezTo>
                <a:cubicBezTo>
                  <a:pt x="815630" y="91287"/>
                  <a:pt x="822689" y="103000"/>
                  <a:pt x="833139" y="110837"/>
                </a:cubicBezTo>
                <a:cubicBezTo>
                  <a:pt x="859781" y="130818"/>
                  <a:pt x="916267" y="166255"/>
                  <a:pt x="916267" y="166255"/>
                </a:cubicBezTo>
                <a:cubicBezTo>
                  <a:pt x="985067" y="269453"/>
                  <a:pt x="896640" y="142701"/>
                  <a:pt x="985539" y="249382"/>
                </a:cubicBezTo>
                <a:cubicBezTo>
                  <a:pt x="1043265" y="318654"/>
                  <a:pt x="978613" y="267856"/>
                  <a:pt x="1054812" y="318655"/>
                </a:cubicBezTo>
                <a:cubicBezTo>
                  <a:pt x="1059430" y="332509"/>
                  <a:pt x="1064655" y="346176"/>
                  <a:pt x="1068667" y="360218"/>
                </a:cubicBezTo>
                <a:cubicBezTo>
                  <a:pt x="1100039" y="470021"/>
                  <a:pt x="1090062" y="487133"/>
                  <a:pt x="1068667" y="651164"/>
                </a:cubicBezTo>
                <a:cubicBezTo>
                  <a:pt x="1064889" y="680127"/>
                  <a:pt x="1061611" y="713638"/>
                  <a:pt x="1040958" y="734291"/>
                </a:cubicBezTo>
                <a:cubicBezTo>
                  <a:pt x="1001474" y="773774"/>
                  <a:pt x="1024117" y="754754"/>
                  <a:pt x="971685" y="789709"/>
                </a:cubicBezTo>
                <a:cubicBezTo>
                  <a:pt x="916496" y="872494"/>
                  <a:pt x="976769" y="800512"/>
                  <a:pt x="902412" y="845127"/>
                </a:cubicBezTo>
                <a:cubicBezTo>
                  <a:pt x="891211" y="851848"/>
                  <a:pt x="886386" y="866995"/>
                  <a:pt x="874703" y="872837"/>
                </a:cubicBezTo>
                <a:cubicBezTo>
                  <a:pt x="848579" y="885899"/>
                  <a:pt x="819285" y="891310"/>
                  <a:pt x="791576" y="900546"/>
                </a:cubicBezTo>
                <a:lnTo>
                  <a:pt x="750012" y="914400"/>
                </a:lnTo>
                <a:cubicBezTo>
                  <a:pt x="681592" y="960012"/>
                  <a:pt x="735046" y="931996"/>
                  <a:pt x="639176" y="955964"/>
                </a:cubicBezTo>
                <a:cubicBezTo>
                  <a:pt x="608864" y="963542"/>
                  <a:pt x="573556" y="982309"/>
                  <a:pt x="542194" y="983673"/>
                </a:cubicBezTo>
                <a:cubicBezTo>
                  <a:pt x="454531" y="987485"/>
                  <a:pt x="366703" y="983673"/>
                  <a:pt x="278958" y="983673"/>
                </a:cubicBezTo>
              </a:path>
            </a:pathLst>
          </a:cu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214282" y="4429132"/>
            <a:ext cx="4000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 smtClean="0">
                <a:solidFill>
                  <a:srgbClr val="FF0000"/>
                </a:solidFill>
              </a:rPr>
              <a:t>Data dependency!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214810" y="1428736"/>
            <a:ext cx="464347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Solution:</a:t>
            </a:r>
            <a:endParaRPr lang="en-US" altLang="zh-CN" sz="2800" dirty="0" smtClean="0"/>
          </a:p>
          <a:p>
            <a:r>
              <a:rPr lang="en-US" altLang="zh-CN" sz="2800" dirty="0" smtClean="0"/>
              <a:t>	1.  bubble:</a:t>
            </a:r>
            <a:endParaRPr lang="en-US" altLang="zh-CN" sz="2800" dirty="0" smtClean="0"/>
          </a:p>
          <a:p>
            <a:r>
              <a:rPr lang="en-US" altLang="zh-CN" sz="2800" dirty="0" smtClean="0"/>
              <a:t>		</a:t>
            </a:r>
            <a:r>
              <a:rPr lang="en-US" altLang="zh-CN" sz="2800" dirty="0" err="1" smtClean="0"/>
              <a:t>Addi</a:t>
            </a:r>
            <a:r>
              <a:rPr lang="en-US" altLang="zh-CN" sz="2800" dirty="0" smtClean="0"/>
              <a:t> R0, R1, 7</a:t>
            </a:r>
            <a:endParaRPr lang="en-US" altLang="zh-CN" sz="2800" dirty="0" smtClean="0"/>
          </a:p>
          <a:p>
            <a:r>
              <a:rPr lang="en-US" altLang="zh-CN" sz="2800" dirty="0" smtClean="0"/>
              <a:t>		Halt</a:t>
            </a:r>
            <a:endParaRPr lang="en-US" altLang="zh-CN" sz="2800" dirty="0" smtClean="0"/>
          </a:p>
          <a:p>
            <a:r>
              <a:rPr lang="en-US" altLang="zh-CN" sz="2800" dirty="0" smtClean="0"/>
              <a:t>		Halt</a:t>
            </a:r>
            <a:endParaRPr lang="en-US" altLang="zh-CN" sz="2800" dirty="0" smtClean="0"/>
          </a:p>
          <a:p>
            <a:r>
              <a:rPr lang="en-US" altLang="zh-CN" sz="2800" dirty="0" smtClean="0"/>
              <a:t>		Add R1, R2, R0</a:t>
            </a:r>
            <a:endParaRPr lang="en-US" altLang="zh-CN" sz="2800" dirty="0" smtClean="0"/>
          </a:p>
          <a:p>
            <a:endParaRPr lang="en-US" altLang="zh-CN" sz="2800" dirty="0" smtClean="0"/>
          </a:p>
          <a:p>
            <a:r>
              <a:rPr lang="en-US" altLang="zh-CN" sz="2800" dirty="0" smtClean="0"/>
              <a:t>	2. forwarding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6200" y="533400"/>
            <a:ext cx="8991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200" y="155264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Voice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0582" y="544488"/>
            <a:ext cx="4441418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700" dirty="0" smtClean="0"/>
              <a:t>Forwarding</a:t>
            </a:r>
            <a:endParaRPr lang="en-US" sz="2700" dirty="0" smtClean="0"/>
          </a:p>
        </p:txBody>
      </p:sp>
      <p:pic>
        <p:nvPicPr>
          <p:cNvPr id="37890" name="Picture 2" descr="H:\forwa.png"/>
          <p:cNvPicPr>
            <a:picLocks noChangeAspect="1" noChangeArrowheads="1"/>
          </p:cNvPicPr>
          <p:nvPr/>
        </p:nvPicPr>
        <p:blipFill>
          <a:blip r:embed="rId1"/>
          <a:srcRect l="20002" t="14298" r="43298" b="6412"/>
          <a:stretch>
            <a:fillRect/>
          </a:stretch>
        </p:blipFill>
        <p:spPr bwMode="auto">
          <a:xfrm>
            <a:off x="2357422" y="571456"/>
            <a:ext cx="5572164" cy="628654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6200" y="533400"/>
            <a:ext cx="8991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200" y="155264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Voice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0582" y="544488"/>
            <a:ext cx="4441418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700" dirty="0" smtClean="0"/>
              <a:t>Forwarding</a:t>
            </a:r>
            <a:endParaRPr lang="en-US" sz="2700" dirty="0" smtClean="0"/>
          </a:p>
        </p:txBody>
      </p:sp>
      <p:sp>
        <p:nvSpPr>
          <p:cNvPr id="10" name="TextBox 9"/>
          <p:cNvSpPr txBox="1"/>
          <p:nvPr/>
        </p:nvSpPr>
        <p:spPr>
          <a:xfrm>
            <a:off x="2214546" y="228599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0" y="1142984"/>
            <a:ext cx="885828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/>
              <a:t> </a:t>
            </a:r>
            <a:r>
              <a:rPr lang="en-US" altLang="zh-CN" sz="1600" dirty="0" err="1" smtClean="0"/>
              <a:t>forward_A</a:t>
            </a:r>
            <a:r>
              <a:rPr lang="en-US" altLang="zh-CN" sz="1600" dirty="0" smtClean="0"/>
              <a:t> &lt;=	"10" WHEN ((</a:t>
            </a:r>
            <a:r>
              <a:rPr lang="en-US" altLang="zh-CN" sz="1600" dirty="0" err="1" smtClean="0"/>
              <a:t>E_M_RegWrite</a:t>
            </a:r>
            <a:r>
              <a:rPr lang="en-US" altLang="zh-CN" sz="1600" dirty="0" smtClean="0"/>
              <a:t>='1')  and (</a:t>
            </a:r>
            <a:r>
              <a:rPr lang="en-US" altLang="zh-CN" sz="1600" dirty="0" err="1" smtClean="0"/>
              <a:t>E_M_RegisterRd</a:t>
            </a:r>
            <a:r>
              <a:rPr lang="en-US" altLang="zh-CN" sz="1600" dirty="0" smtClean="0"/>
              <a:t> =</a:t>
            </a:r>
            <a:r>
              <a:rPr lang="en-US" altLang="zh-CN" sz="1600" dirty="0" err="1" smtClean="0"/>
              <a:t>I_E_RegisterRs</a:t>
            </a:r>
            <a:r>
              <a:rPr lang="en-US" altLang="zh-CN" sz="1600" dirty="0" smtClean="0"/>
              <a:t>))ELSE               </a:t>
            </a:r>
            <a:endParaRPr lang="en-US" altLang="zh-CN" sz="1600" dirty="0" smtClean="0"/>
          </a:p>
          <a:p>
            <a:r>
              <a:rPr lang="en-US" altLang="zh-CN" sz="1600" dirty="0" smtClean="0"/>
              <a:t>		 "01" WHEN ((</a:t>
            </a:r>
            <a:r>
              <a:rPr lang="en-US" altLang="zh-CN" sz="1600" dirty="0" err="1" smtClean="0"/>
              <a:t>E_M_RegisterRd</a:t>
            </a:r>
            <a:r>
              <a:rPr lang="en-US" altLang="zh-CN" sz="1600" dirty="0" smtClean="0"/>
              <a:t> /= </a:t>
            </a:r>
            <a:r>
              <a:rPr lang="en-US" altLang="zh-CN" sz="1600" dirty="0" err="1" smtClean="0"/>
              <a:t>I_E_RegisterRs</a:t>
            </a:r>
            <a:r>
              <a:rPr lang="en-US" altLang="zh-CN" sz="1600" dirty="0" smtClean="0"/>
              <a:t>) and ((</a:t>
            </a:r>
            <a:r>
              <a:rPr lang="en-US" altLang="zh-CN" sz="1600" dirty="0" err="1" smtClean="0"/>
              <a:t>M_W_RegWrite</a:t>
            </a:r>
            <a:r>
              <a:rPr lang="en-US" altLang="zh-CN" sz="1600" dirty="0" smtClean="0"/>
              <a:t>='1')  and 			(</a:t>
            </a:r>
            <a:r>
              <a:rPr lang="en-US" altLang="zh-CN" sz="1600" dirty="0" err="1" smtClean="0"/>
              <a:t>M_W_RegisterRd</a:t>
            </a:r>
            <a:r>
              <a:rPr lang="en-US" altLang="zh-CN" sz="1600" dirty="0" smtClean="0"/>
              <a:t> = </a:t>
            </a:r>
            <a:r>
              <a:rPr lang="en-US" altLang="zh-CN" sz="1600" dirty="0" err="1" smtClean="0"/>
              <a:t>I_E_RegisterRs</a:t>
            </a:r>
            <a:r>
              <a:rPr lang="en-US" altLang="zh-CN" sz="1600" dirty="0" smtClean="0"/>
              <a:t>)))ELSE               </a:t>
            </a:r>
            <a:endParaRPr lang="en-US" altLang="zh-CN" sz="1600" dirty="0" smtClean="0"/>
          </a:p>
          <a:p>
            <a:r>
              <a:rPr lang="en-US" altLang="zh-CN" sz="1600" dirty="0" smtClean="0"/>
              <a:t>		 "00";              </a:t>
            </a:r>
            <a:endParaRPr lang="en-US" altLang="zh-CN" sz="1600" dirty="0" smtClean="0"/>
          </a:p>
          <a:p>
            <a:r>
              <a:rPr lang="en-US" altLang="zh-CN" sz="1600" dirty="0" err="1" smtClean="0"/>
              <a:t>forward_B</a:t>
            </a:r>
            <a:r>
              <a:rPr lang="en-US" altLang="zh-CN" sz="1600" dirty="0" smtClean="0"/>
              <a:t> &lt;=	"10" WHEN ((</a:t>
            </a:r>
            <a:r>
              <a:rPr lang="en-US" altLang="zh-CN" sz="1600" dirty="0" err="1" smtClean="0"/>
              <a:t>E_M_RegWrite</a:t>
            </a:r>
            <a:r>
              <a:rPr lang="en-US" altLang="zh-CN" sz="1600" dirty="0" smtClean="0"/>
              <a:t>='1')  and (</a:t>
            </a:r>
            <a:r>
              <a:rPr lang="en-US" altLang="zh-CN" sz="1600" dirty="0" err="1" smtClean="0"/>
              <a:t>E_M_RegisterRd</a:t>
            </a:r>
            <a:r>
              <a:rPr lang="en-US" altLang="zh-CN" sz="1600" dirty="0" smtClean="0"/>
              <a:t> =</a:t>
            </a:r>
            <a:r>
              <a:rPr lang="en-US" altLang="zh-CN" sz="1600" dirty="0" err="1" smtClean="0"/>
              <a:t>I_E_RegisterRt</a:t>
            </a:r>
            <a:r>
              <a:rPr lang="en-US" altLang="zh-CN" sz="1600" dirty="0" smtClean="0"/>
              <a:t>))ELSE                		"01" WHEN ((</a:t>
            </a:r>
            <a:r>
              <a:rPr lang="en-US" altLang="zh-CN" sz="1600" dirty="0" err="1" smtClean="0"/>
              <a:t>E_M_RegisterRd</a:t>
            </a:r>
            <a:r>
              <a:rPr lang="en-US" altLang="zh-CN" sz="1600" dirty="0" smtClean="0"/>
              <a:t> /= </a:t>
            </a:r>
            <a:r>
              <a:rPr lang="en-US" altLang="zh-CN" sz="1600" dirty="0" err="1" smtClean="0"/>
              <a:t>I_E_RegisterRt</a:t>
            </a:r>
            <a:r>
              <a:rPr lang="en-US" altLang="zh-CN" sz="1600" dirty="0" smtClean="0"/>
              <a:t>) and(( </a:t>
            </a:r>
            <a:r>
              <a:rPr lang="en-US" altLang="zh-CN" sz="1600" dirty="0" err="1" smtClean="0"/>
              <a:t>M_W_RegWrite</a:t>
            </a:r>
            <a:r>
              <a:rPr lang="en-US" altLang="zh-CN" sz="1600" dirty="0" smtClean="0"/>
              <a:t>='1')  and 			(</a:t>
            </a:r>
            <a:r>
              <a:rPr lang="en-US" altLang="zh-CN" sz="1600" dirty="0" err="1" smtClean="0"/>
              <a:t>M_W_RegisterRd</a:t>
            </a:r>
            <a:r>
              <a:rPr lang="en-US" altLang="zh-CN" sz="1600" dirty="0" smtClean="0"/>
              <a:t> = </a:t>
            </a:r>
            <a:r>
              <a:rPr lang="en-US" altLang="zh-CN" sz="1600" dirty="0" err="1" smtClean="0"/>
              <a:t>I_E_RegisterRt</a:t>
            </a:r>
            <a:r>
              <a:rPr lang="en-US" altLang="zh-CN" sz="1600" dirty="0" smtClean="0"/>
              <a:t>)))ELSE                </a:t>
            </a:r>
            <a:endParaRPr lang="en-US" altLang="zh-CN" sz="1600" dirty="0" smtClean="0"/>
          </a:p>
          <a:p>
            <a:r>
              <a:rPr lang="en-US" altLang="zh-CN" sz="1600" dirty="0" smtClean="0"/>
              <a:t>		"00";</a:t>
            </a:r>
            <a:endParaRPr lang="zh-CN" altLang="en-US" sz="1600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642910" y="3500438"/>
          <a:ext cx="7643866" cy="26536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7955"/>
                <a:gridCol w="1990590"/>
                <a:gridCol w="3105321"/>
              </a:tblGrid>
              <a:tr h="442278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ALU</a:t>
                      </a:r>
                      <a:r>
                        <a:rPr lang="en-US" altLang="zh-CN" baseline="0" dirty="0" smtClean="0"/>
                        <a:t> input </a:t>
                      </a:r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Register</a:t>
                      </a:r>
                      <a:r>
                        <a:rPr lang="en-US" altLang="zh-CN" baseline="0" dirty="0" smtClean="0"/>
                        <a:t> file Dout0</a:t>
                      </a:r>
                      <a:endParaRPr lang="zh-CN" altLang="en-US" dirty="0"/>
                    </a:p>
                  </a:txBody>
                  <a:tcPr/>
                </a:tc>
              </a:tr>
              <a:tr h="44227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Write</a:t>
                      </a:r>
                      <a:r>
                        <a:rPr lang="en-US" altLang="zh-CN" baseline="0" dirty="0" smtClean="0"/>
                        <a:t> back data</a:t>
                      </a:r>
                      <a:endParaRPr lang="zh-CN" altLang="en-US" dirty="0"/>
                    </a:p>
                  </a:txBody>
                  <a:tcPr/>
                </a:tc>
              </a:tr>
              <a:tr h="44227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Piped</a:t>
                      </a:r>
                      <a:r>
                        <a:rPr lang="en-US" altLang="zh-CN" baseline="0" dirty="0" smtClean="0"/>
                        <a:t> ALU result</a:t>
                      </a:r>
                      <a:endParaRPr lang="zh-CN" altLang="en-US" dirty="0"/>
                    </a:p>
                  </a:txBody>
                  <a:tcPr/>
                </a:tc>
              </a:tr>
              <a:tr h="442278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ALU</a:t>
                      </a:r>
                      <a:r>
                        <a:rPr lang="en-US" altLang="zh-CN" baseline="0" dirty="0" smtClean="0"/>
                        <a:t> input </a:t>
                      </a:r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Register file Dout1</a:t>
                      </a:r>
                      <a:endParaRPr lang="zh-CN" altLang="en-US" dirty="0"/>
                    </a:p>
                  </a:txBody>
                  <a:tcPr/>
                </a:tc>
              </a:tr>
              <a:tr h="442278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Write back data</a:t>
                      </a:r>
                      <a:endParaRPr lang="zh-CN" altLang="en-US" dirty="0"/>
                    </a:p>
                  </a:txBody>
                  <a:tcPr/>
                </a:tc>
              </a:tr>
              <a:tr h="442278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Piped</a:t>
                      </a:r>
                      <a:r>
                        <a:rPr lang="en-US" altLang="zh-CN" baseline="0" dirty="0" smtClean="0"/>
                        <a:t> ALU result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71406" y="692696"/>
            <a:ext cx="8496944" cy="456132"/>
          </a:xfrm>
        </p:spPr>
        <p:txBody>
          <a:bodyPr>
            <a:noAutofit/>
          </a:bodyPr>
          <a:lstStyle/>
          <a:p>
            <a:r>
              <a:rPr lang="en-US" sz="2700" b="0" dirty="0" smtClean="0"/>
              <a:t>Pipeline Design</a:t>
            </a:r>
            <a:endParaRPr lang="en-US" sz="2700" b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6200" y="533400"/>
            <a:ext cx="8991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200" y="155264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Voice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85720" y="1571612"/>
            <a:ext cx="37862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600" dirty="0" smtClean="0"/>
              <a:t>*Assembly file</a:t>
            </a:r>
            <a:endParaRPr lang="en-US" altLang="zh-CN" sz="3600" dirty="0" smtClean="0"/>
          </a:p>
          <a:p>
            <a:pPr>
              <a:lnSpc>
                <a:spcPct val="150000"/>
              </a:lnSpc>
            </a:pPr>
            <a:r>
              <a:rPr lang="en-US" altLang="zh-CN" sz="3600" dirty="0" smtClean="0"/>
              <a:t>LW R0, R1, 7</a:t>
            </a:r>
            <a:endParaRPr lang="en-US" altLang="zh-CN" sz="3600" dirty="0" smtClean="0"/>
          </a:p>
          <a:p>
            <a:pPr>
              <a:lnSpc>
                <a:spcPct val="150000"/>
              </a:lnSpc>
            </a:pPr>
            <a:r>
              <a:rPr lang="en-US" altLang="zh-CN" sz="3600" dirty="0" smtClean="0"/>
              <a:t>Add   R1, R2, R0</a:t>
            </a:r>
            <a:endParaRPr lang="zh-CN" altLang="en-US" sz="3600" dirty="0"/>
          </a:p>
        </p:txBody>
      </p:sp>
      <p:sp>
        <p:nvSpPr>
          <p:cNvPr id="16" name="任意多边形 15"/>
          <p:cNvSpPr/>
          <p:nvPr/>
        </p:nvSpPr>
        <p:spPr>
          <a:xfrm>
            <a:off x="928662" y="2428868"/>
            <a:ext cx="785818" cy="941201"/>
          </a:xfrm>
          <a:custGeom>
            <a:avLst/>
            <a:gdLst>
              <a:gd name="connsiteX0" fmla="*/ 568036 w 942109"/>
              <a:gd name="connsiteY0" fmla="*/ 1061569 h 1103133"/>
              <a:gd name="connsiteX1" fmla="*/ 401781 w 942109"/>
              <a:gd name="connsiteY1" fmla="*/ 1033860 h 1103133"/>
              <a:gd name="connsiteX2" fmla="*/ 318654 w 942109"/>
              <a:gd name="connsiteY2" fmla="*/ 1006151 h 1103133"/>
              <a:gd name="connsiteX3" fmla="*/ 277090 w 942109"/>
              <a:gd name="connsiteY3" fmla="*/ 992297 h 1103133"/>
              <a:gd name="connsiteX4" fmla="*/ 235527 w 942109"/>
              <a:gd name="connsiteY4" fmla="*/ 964588 h 1103133"/>
              <a:gd name="connsiteX5" fmla="*/ 207818 w 942109"/>
              <a:gd name="connsiteY5" fmla="*/ 936878 h 1103133"/>
              <a:gd name="connsiteX6" fmla="*/ 166254 w 942109"/>
              <a:gd name="connsiteY6" fmla="*/ 923024 h 1103133"/>
              <a:gd name="connsiteX7" fmla="*/ 152400 w 942109"/>
              <a:gd name="connsiteY7" fmla="*/ 881460 h 1103133"/>
              <a:gd name="connsiteX8" fmla="*/ 124690 w 942109"/>
              <a:gd name="connsiteY8" fmla="*/ 853751 h 1103133"/>
              <a:gd name="connsiteX9" fmla="*/ 69272 w 942109"/>
              <a:gd name="connsiteY9" fmla="*/ 729060 h 1103133"/>
              <a:gd name="connsiteX10" fmla="*/ 41563 w 942109"/>
              <a:gd name="connsiteY10" fmla="*/ 645933 h 1103133"/>
              <a:gd name="connsiteX11" fmla="*/ 27709 w 942109"/>
              <a:gd name="connsiteY11" fmla="*/ 604369 h 1103133"/>
              <a:gd name="connsiteX12" fmla="*/ 0 w 942109"/>
              <a:gd name="connsiteY12" fmla="*/ 410406 h 1103133"/>
              <a:gd name="connsiteX13" fmla="*/ 27709 w 942109"/>
              <a:gd name="connsiteY13" fmla="*/ 271860 h 1103133"/>
              <a:gd name="connsiteX14" fmla="*/ 69272 w 942109"/>
              <a:gd name="connsiteY14" fmla="*/ 202588 h 1103133"/>
              <a:gd name="connsiteX15" fmla="*/ 83127 w 942109"/>
              <a:gd name="connsiteY15" fmla="*/ 161024 h 1103133"/>
              <a:gd name="connsiteX16" fmla="*/ 69272 w 942109"/>
              <a:gd name="connsiteY16" fmla="*/ 119460 h 1103133"/>
              <a:gd name="connsiteX17" fmla="*/ 110836 w 942109"/>
              <a:gd name="connsiteY17" fmla="*/ 91751 h 1103133"/>
              <a:gd name="connsiteX18" fmla="*/ 207818 w 942109"/>
              <a:gd name="connsiteY18" fmla="*/ 64042 h 1103133"/>
              <a:gd name="connsiteX19" fmla="*/ 249381 w 942109"/>
              <a:gd name="connsiteY19" fmla="*/ 36333 h 1103133"/>
              <a:gd name="connsiteX20" fmla="*/ 581890 w 942109"/>
              <a:gd name="connsiteY20" fmla="*/ 77897 h 1103133"/>
              <a:gd name="connsiteX21" fmla="*/ 609600 w 942109"/>
              <a:gd name="connsiteY21" fmla="*/ 105606 h 1103133"/>
              <a:gd name="connsiteX22" fmla="*/ 637309 w 942109"/>
              <a:gd name="connsiteY22" fmla="*/ 147169 h 1103133"/>
              <a:gd name="connsiteX23" fmla="*/ 678872 w 942109"/>
              <a:gd name="connsiteY23" fmla="*/ 174878 h 1103133"/>
              <a:gd name="connsiteX24" fmla="*/ 734290 w 942109"/>
              <a:gd name="connsiteY24" fmla="*/ 244151 h 1103133"/>
              <a:gd name="connsiteX25" fmla="*/ 789709 w 942109"/>
              <a:gd name="connsiteY25" fmla="*/ 313424 h 1103133"/>
              <a:gd name="connsiteX26" fmla="*/ 845127 w 942109"/>
              <a:gd name="connsiteY26" fmla="*/ 396551 h 1103133"/>
              <a:gd name="connsiteX27" fmla="*/ 858981 w 942109"/>
              <a:gd name="connsiteY27" fmla="*/ 438115 h 1103133"/>
              <a:gd name="connsiteX28" fmla="*/ 886690 w 942109"/>
              <a:gd name="connsiteY28" fmla="*/ 479678 h 1103133"/>
              <a:gd name="connsiteX29" fmla="*/ 928254 w 942109"/>
              <a:gd name="connsiteY29" fmla="*/ 604369 h 1103133"/>
              <a:gd name="connsiteX30" fmla="*/ 942109 w 942109"/>
              <a:gd name="connsiteY30" fmla="*/ 645933 h 1103133"/>
              <a:gd name="connsiteX31" fmla="*/ 928254 w 942109"/>
              <a:gd name="connsiteY31" fmla="*/ 936878 h 1103133"/>
              <a:gd name="connsiteX32" fmla="*/ 886690 w 942109"/>
              <a:gd name="connsiteY32" fmla="*/ 1006151 h 1103133"/>
              <a:gd name="connsiteX33" fmla="*/ 845127 w 942109"/>
              <a:gd name="connsiteY33" fmla="*/ 1033860 h 1103133"/>
              <a:gd name="connsiteX34" fmla="*/ 706581 w 942109"/>
              <a:gd name="connsiteY34" fmla="*/ 1075424 h 1103133"/>
              <a:gd name="connsiteX35" fmla="*/ 595745 w 942109"/>
              <a:gd name="connsiteY35" fmla="*/ 1089278 h 1103133"/>
              <a:gd name="connsiteX36" fmla="*/ 512618 w 942109"/>
              <a:gd name="connsiteY36" fmla="*/ 1103133 h 1103133"/>
              <a:gd name="connsiteX37" fmla="*/ 401781 w 942109"/>
              <a:gd name="connsiteY37" fmla="*/ 1089278 h 1103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942109" h="1103133">
                <a:moveTo>
                  <a:pt x="568036" y="1061569"/>
                </a:moveTo>
                <a:cubicBezTo>
                  <a:pt x="512618" y="1052333"/>
                  <a:pt x="456626" y="1046048"/>
                  <a:pt x="401781" y="1033860"/>
                </a:cubicBezTo>
                <a:cubicBezTo>
                  <a:pt x="373269" y="1027524"/>
                  <a:pt x="346363" y="1015387"/>
                  <a:pt x="318654" y="1006151"/>
                </a:cubicBezTo>
                <a:lnTo>
                  <a:pt x="277090" y="992297"/>
                </a:lnTo>
                <a:cubicBezTo>
                  <a:pt x="263236" y="983061"/>
                  <a:pt x="248529" y="974990"/>
                  <a:pt x="235527" y="964588"/>
                </a:cubicBezTo>
                <a:cubicBezTo>
                  <a:pt x="225327" y="956428"/>
                  <a:pt x="219019" y="943599"/>
                  <a:pt x="207818" y="936878"/>
                </a:cubicBezTo>
                <a:cubicBezTo>
                  <a:pt x="195295" y="929364"/>
                  <a:pt x="180109" y="927642"/>
                  <a:pt x="166254" y="923024"/>
                </a:cubicBezTo>
                <a:cubicBezTo>
                  <a:pt x="161636" y="909169"/>
                  <a:pt x="159914" y="893983"/>
                  <a:pt x="152400" y="881460"/>
                </a:cubicBezTo>
                <a:cubicBezTo>
                  <a:pt x="145679" y="870259"/>
                  <a:pt x="130532" y="865434"/>
                  <a:pt x="124690" y="853751"/>
                </a:cubicBezTo>
                <a:cubicBezTo>
                  <a:pt x="25757" y="655888"/>
                  <a:pt x="150785" y="851331"/>
                  <a:pt x="69272" y="729060"/>
                </a:cubicBezTo>
                <a:lnTo>
                  <a:pt x="41563" y="645933"/>
                </a:lnTo>
                <a:cubicBezTo>
                  <a:pt x="36945" y="632078"/>
                  <a:pt x="30110" y="618774"/>
                  <a:pt x="27709" y="604369"/>
                </a:cubicBezTo>
                <a:cubicBezTo>
                  <a:pt x="7733" y="484516"/>
                  <a:pt x="17338" y="549116"/>
                  <a:pt x="0" y="410406"/>
                </a:cubicBezTo>
                <a:cubicBezTo>
                  <a:pt x="9236" y="364224"/>
                  <a:pt x="12816" y="316540"/>
                  <a:pt x="27709" y="271860"/>
                </a:cubicBezTo>
                <a:cubicBezTo>
                  <a:pt x="36224" y="246314"/>
                  <a:pt x="57229" y="226673"/>
                  <a:pt x="69272" y="202588"/>
                </a:cubicBezTo>
                <a:cubicBezTo>
                  <a:pt x="75803" y="189526"/>
                  <a:pt x="78509" y="174879"/>
                  <a:pt x="83127" y="161024"/>
                </a:cubicBezTo>
                <a:cubicBezTo>
                  <a:pt x="78509" y="147169"/>
                  <a:pt x="63848" y="133020"/>
                  <a:pt x="69272" y="119460"/>
                </a:cubicBezTo>
                <a:cubicBezTo>
                  <a:pt x="75456" y="104000"/>
                  <a:pt x="95943" y="99197"/>
                  <a:pt x="110836" y="91751"/>
                </a:cubicBezTo>
                <a:cubicBezTo>
                  <a:pt x="130708" y="81815"/>
                  <a:pt x="190068" y="68480"/>
                  <a:pt x="207818" y="64042"/>
                </a:cubicBezTo>
                <a:cubicBezTo>
                  <a:pt x="221672" y="54806"/>
                  <a:pt x="232745" y="37026"/>
                  <a:pt x="249381" y="36333"/>
                </a:cubicBezTo>
                <a:cubicBezTo>
                  <a:pt x="411325" y="29586"/>
                  <a:pt x="484518" y="0"/>
                  <a:pt x="581890" y="77897"/>
                </a:cubicBezTo>
                <a:cubicBezTo>
                  <a:pt x="592090" y="86057"/>
                  <a:pt x="601440" y="95406"/>
                  <a:pt x="609600" y="105606"/>
                </a:cubicBezTo>
                <a:cubicBezTo>
                  <a:pt x="620002" y="118608"/>
                  <a:pt x="625535" y="135395"/>
                  <a:pt x="637309" y="147169"/>
                </a:cubicBezTo>
                <a:cubicBezTo>
                  <a:pt x="649083" y="158943"/>
                  <a:pt x="665870" y="164476"/>
                  <a:pt x="678872" y="174878"/>
                </a:cubicBezTo>
                <a:cubicBezTo>
                  <a:pt x="716040" y="204613"/>
                  <a:pt x="702286" y="204147"/>
                  <a:pt x="734290" y="244151"/>
                </a:cubicBezTo>
                <a:cubicBezTo>
                  <a:pt x="813252" y="342851"/>
                  <a:pt x="704431" y="185506"/>
                  <a:pt x="789709" y="313424"/>
                </a:cubicBezTo>
                <a:cubicBezTo>
                  <a:pt x="822650" y="412253"/>
                  <a:pt x="775940" y="292771"/>
                  <a:pt x="845127" y="396551"/>
                </a:cubicBezTo>
                <a:cubicBezTo>
                  <a:pt x="853228" y="408702"/>
                  <a:pt x="852450" y="425053"/>
                  <a:pt x="858981" y="438115"/>
                </a:cubicBezTo>
                <a:cubicBezTo>
                  <a:pt x="866427" y="453008"/>
                  <a:pt x="879927" y="464462"/>
                  <a:pt x="886690" y="479678"/>
                </a:cubicBezTo>
                <a:cubicBezTo>
                  <a:pt x="886698" y="479695"/>
                  <a:pt x="921324" y="583578"/>
                  <a:pt x="928254" y="604369"/>
                </a:cubicBezTo>
                <a:lnTo>
                  <a:pt x="942109" y="645933"/>
                </a:lnTo>
                <a:cubicBezTo>
                  <a:pt x="937491" y="742915"/>
                  <a:pt x="936317" y="840122"/>
                  <a:pt x="928254" y="936878"/>
                </a:cubicBezTo>
                <a:cubicBezTo>
                  <a:pt x="925480" y="970162"/>
                  <a:pt x="911122" y="986606"/>
                  <a:pt x="886690" y="1006151"/>
                </a:cubicBezTo>
                <a:cubicBezTo>
                  <a:pt x="873688" y="1016553"/>
                  <a:pt x="860343" y="1027097"/>
                  <a:pt x="845127" y="1033860"/>
                </a:cubicBezTo>
                <a:cubicBezTo>
                  <a:pt x="822956" y="1043714"/>
                  <a:pt x="738820" y="1070051"/>
                  <a:pt x="706581" y="1075424"/>
                </a:cubicBezTo>
                <a:cubicBezTo>
                  <a:pt x="669855" y="1081545"/>
                  <a:pt x="632604" y="1084012"/>
                  <a:pt x="595745" y="1089278"/>
                </a:cubicBezTo>
                <a:cubicBezTo>
                  <a:pt x="567936" y="1093251"/>
                  <a:pt x="540327" y="1098515"/>
                  <a:pt x="512618" y="1103133"/>
                </a:cubicBezTo>
                <a:cubicBezTo>
                  <a:pt x="411064" y="1088625"/>
                  <a:pt x="448292" y="1089278"/>
                  <a:pt x="401781" y="1089278"/>
                </a:cubicBezTo>
              </a:path>
            </a:pathLst>
          </a:cu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/>
        </p:nvSpPr>
        <p:spPr>
          <a:xfrm>
            <a:off x="2686143" y="3214686"/>
            <a:ext cx="1100039" cy="997527"/>
          </a:xfrm>
          <a:custGeom>
            <a:avLst/>
            <a:gdLst>
              <a:gd name="connsiteX0" fmla="*/ 389794 w 1100039"/>
              <a:gd name="connsiteY0" fmla="*/ 997527 h 997527"/>
              <a:gd name="connsiteX1" fmla="*/ 348230 w 1100039"/>
              <a:gd name="connsiteY1" fmla="*/ 983673 h 997527"/>
              <a:gd name="connsiteX2" fmla="*/ 195830 w 1100039"/>
              <a:gd name="connsiteY2" fmla="*/ 886691 h 997527"/>
              <a:gd name="connsiteX3" fmla="*/ 112703 w 1100039"/>
              <a:gd name="connsiteY3" fmla="*/ 762000 h 997527"/>
              <a:gd name="connsiteX4" fmla="*/ 84994 w 1100039"/>
              <a:gd name="connsiteY4" fmla="*/ 720437 h 997527"/>
              <a:gd name="connsiteX5" fmla="*/ 57285 w 1100039"/>
              <a:gd name="connsiteY5" fmla="*/ 637309 h 997527"/>
              <a:gd name="connsiteX6" fmla="*/ 29576 w 1100039"/>
              <a:gd name="connsiteY6" fmla="*/ 554182 h 997527"/>
              <a:gd name="connsiteX7" fmla="*/ 15721 w 1100039"/>
              <a:gd name="connsiteY7" fmla="*/ 512618 h 997527"/>
              <a:gd name="connsiteX8" fmla="*/ 1867 w 1100039"/>
              <a:gd name="connsiteY8" fmla="*/ 401782 h 997527"/>
              <a:gd name="connsiteX9" fmla="*/ 15721 w 1100039"/>
              <a:gd name="connsiteY9" fmla="*/ 207818 h 997527"/>
              <a:gd name="connsiteX10" fmla="*/ 71139 w 1100039"/>
              <a:gd name="connsiteY10" fmla="*/ 124691 h 997527"/>
              <a:gd name="connsiteX11" fmla="*/ 98848 w 1100039"/>
              <a:gd name="connsiteY11" fmla="*/ 83127 h 997527"/>
              <a:gd name="connsiteX12" fmla="*/ 223539 w 1100039"/>
              <a:gd name="connsiteY12" fmla="*/ 41564 h 997527"/>
              <a:gd name="connsiteX13" fmla="*/ 320521 w 1100039"/>
              <a:gd name="connsiteY13" fmla="*/ 13855 h 997527"/>
              <a:gd name="connsiteX14" fmla="*/ 417503 w 1100039"/>
              <a:gd name="connsiteY14" fmla="*/ 0 h 997527"/>
              <a:gd name="connsiteX15" fmla="*/ 639176 w 1100039"/>
              <a:gd name="connsiteY15" fmla="*/ 13855 h 997527"/>
              <a:gd name="connsiteX16" fmla="*/ 722303 w 1100039"/>
              <a:gd name="connsiteY16" fmla="*/ 41564 h 997527"/>
              <a:gd name="connsiteX17" fmla="*/ 763867 w 1100039"/>
              <a:gd name="connsiteY17" fmla="*/ 55418 h 997527"/>
              <a:gd name="connsiteX18" fmla="*/ 805430 w 1100039"/>
              <a:gd name="connsiteY18" fmla="*/ 83127 h 997527"/>
              <a:gd name="connsiteX19" fmla="*/ 833139 w 1100039"/>
              <a:gd name="connsiteY19" fmla="*/ 110837 h 997527"/>
              <a:gd name="connsiteX20" fmla="*/ 916267 w 1100039"/>
              <a:gd name="connsiteY20" fmla="*/ 166255 h 997527"/>
              <a:gd name="connsiteX21" fmla="*/ 985539 w 1100039"/>
              <a:gd name="connsiteY21" fmla="*/ 249382 h 997527"/>
              <a:gd name="connsiteX22" fmla="*/ 1054812 w 1100039"/>
              <a:gd name="connsiteY22" fmla="*/ 318655 h 997527"/>
              <a:gd name="connsiteX23" fmla="*/ 1068667 w 1100039"/>
              <a:gd name="connsiteY23" fmla="*/ 360218 h 997527"/>
              <a:gd name="connsiteX24" fmla="*/ 1068667 w 1100039"/>
              <a:gd name="connsiteY24" fmla="*/ 651164 h 997527"/>
              <a:gd name="connsiteX25" fmla="*/ 1040958 w 1100039"/>
              <a:gd name="connsiteY25" fmla="*/ 734291 h 997527"/>
              <a:gd name="connsiteX26" fmla="*/ 971685 w 1100039"/>
              <a:gd name="connsiteY26" fmla="*/ 789709 h 997527"/>
              <a:gd name="connsiteX27" fmla="*/ 902412 w 1100039"/>
              <a:gd name="connsiteY27" fmla="*/ 845127 h 997527"/>
              <a:gd name="connsiteX28" fmla="*/ 874703 w 1100039"/>
              <a:gd name="connsiteY28" fmla="*/ 872837 h 997527"/>
              <a:gd name="connsiteX29" fmla="*/ 791576 w 1100039"/>
              <a:gd name="connsiteY29" fmla="*/ 900546 h 997527"/>
              <a:gd name="connsiteX30" fmla="*/ 750012 w 1100039"/>
              <a:gd name="connsiteY30" fmla="*/ 914400 h 997527"/>
              <a:gd name="connsiteX31" fmla="*/ 639176 w 1100039"/>
              <a:gd name="connsiteY31" fmla="*/ 955964 h 997527"/>
              <a:gd name="connsiteX32" fmla="*/ 542194 w 1100039"/>
              <a:gd name="connsiteY32" fmla="*/ 983673 h 997527"/>
              <a:gd name="connsiteX33" fmla="*/ 278958 w 1100039"/>
              <a:gd name="connsiteY33" fmla="*/ 983673 h 997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100039" h="997527">
                <a:moveTo>
                  <a:pt x="389794" y="997527"/>
                </a:moveTo>
                <a:cubicBezTo>
                  <a:pt x="375939" y="992909"/>
                  <a:pt x="360910" y="990919"/>
                  <a:pt x="348230" y="983673"/>
                </a:cubicBezTo>
                <a:cubicBezTo>
                  <a:pt x="295950" y="953799"/>
                  <a:pt x="195830" y="886691"/>
                  <a:pt x="195830" y="886691"/>
                </a:cubicBezTo>
                <a:lnTo>
                  <a:pt x="112703" y="762000"/>
                </a:lnTo>
                <a:cubicBezTo>
                  <a:pt x="103467" y="748146"/>
                  <a:pt x="90259" y="736233"/>
                  <a:pt x="84994" y="720437"/>
                </a:cubicBezTo>
                <a:lnTo>
                  <a:pt x="57285" y="637309"/>
                </a:lnTo>
                <a:lnTo>
                  <a:pt x="29576" y="554182"/>
                </a:lnTo>
                <a:lnTo>
                  <a:pt x="15721" y="512618"/>
                </a:lnTo>
                <a:cubicBezTo>
                  <a:pt x="11103" y="475673"/>
                  <a:pt x="1867" y="439015"/>
                  <a:pt x="1867" y="401782"/>
                </a:cubicBezTo>
                <a:cubicBezTo>
                  <a:pt x="1867" y="336963"/>
                  <a:pt x="0" y="270702"/>
                  <a:pt x="15721" y="207818"/>
                </a:cubicBezTo>
                <a:cubicBezTo>
                  <a:pt x="23798" y="175510"/>
                  <a:pt x="52666" y="152400"/>
                  <a:pt x="71139" y="124691"/>
                </a:cubicBezTo>
                <a:cubicBezTo>
                  <a:pt x="80375" y="110836"/>
                  <a:pt x="83051" y="88393"/>
                  <a:pt x="98848" y="83127"/>
                </a:cubicBezTo>
                <a:lnTo>
                  <a:pt x="223539" y="41564"/>
                </a:lnTo>
                <a:cubicBezTo>
                  <a:pt x="259156" y="29692"/>
                  <a:pt x="282241" y="20815"/>
                  <a:pt x="320521" y="13855"/>
                </a:cubicBezTo>
                <a:cubicBezTo>
                  <a:pt x="352650" y="8013"/>
                  <a:pt x="385176" y="4618"/>
                  <a:pt x="417503" y="0"/>
                </a:cubicBezTo>
                <a:cubicBezTo>
                  <a:pt x="491394" y="4618"/>
                  <a:pt x="565820" y="3852"/>
                  <a:pt x="639176" y="13855"/>
                </a:cubicBezTo>
                <a:cubicBezTo>
                  <a:pt x="668116" y="17801"/>
                  <a:pt x="694594" y="32328"/>
                  <a:pt x="722303" y="41564"/>
                </a:cubicBezTo>
                <a:lnTo>
                  <a:pt x="763867" y="55418"/>
                </a:lnTo>
                <a:cubicBezTo>
                  <a:pt x="777721" y="64654"/>
                  <a:pt x="792428" y="72725"/>
                  <a:pt x="805430" y="83127"/>
                </a:cubicBezTo>
                <a:cubicBezTo>
                  <a:pt x="815630" y="91287"/>
                  <a:pt x="822689" y="103000"/>
                  <a:pt x="833139" y="110837"/>
                </a:cubicBezTo>
                <a:cubicBezTo>
                  <a:pt x="859781" y="130818"/>
                  <a:pt x="916267" y="166255"/>
                  <a:pt x="916267" y="166255"/>
                </a:cubicBezTo>
                <a:cubicBezTo>
                  <a:pt x="985067" y="269453"/>
                  <a:pt x="896640" y="142701"/>
                  <a:pt x="985539" y="249382"/>
                </a:cubicBezTo>
                <a:cubicBezTo>
                  <a:pt x="1043265" y="318654"/>
                  <a:pt x="978613" y="267856"/>
                  <a:pt x="1054812" y="318655"/>
                </a:cubicBezTo>
                <a:cubicBezTo>
                  <a:pt x="1059430" y="332509"/>
                  <a:pt x="1064655" y="346176"/>
                  <a:pt x="1068667" y="360218"/>
                </a:cubicBezTo>
                <a:cubicBezTo>
                  <a:pt x="1100039" y="470021"/>
                  <a:pt x="1090062" y="487133"/>
                  <a:pt x="1068667" y="651164"/>
                </a:cubicBezTo>
                <a:cubicBezTo>
                  <a:pt x="1064889" y="680127"/>
                  <a:pt x="1061611" y="713638"/>
                  <a:pt x="1040958" y="734291"/>
                </a:cubicBezTo>
                <a:cubicBezTo>
                  <a:pt x="1001474" y="773774"/>
                  <a:pt x="1024117" y="754754"/>
                  <a:pt x="971685" y="789709"/>
                </a:cubicBezTo>
                <a:cubicBezTo>
                  <a:pt x="916496" y="872494"/>
                  <a:pt x="976769" y="800512"/>
                  <a:pt x="902412" y="845127"/>
                </a:cubicBezTo>
                <a:cubicBezTo>
                  <a:pt x="891211" y="851848"/>
                  <a:pt x="886386" y="866995"/>
                  <a:pt x="874703" y="872837"/>
                </a:cubicBezTo>
                <a:cubicBezTo>
                  <a:pt x="848579" y="885899"/>
                  <a:pt x="819285" y="891310"/>
                  <a:pt x="791576" y="900546"/>
                </a:cubicBezTo>
                <a:lnTo>
                  <a:pt x="750012" y="914400"/>
                </a:lnTo>
                <a:cubicBezTo>
                  <a:pt x="681592" y="960012"/>
                  <a:pt x="735046" y="931996"/>
                  <a:pt x="639176" y="955964"/>
                </a:cubicBezTo>
                <a:cubicBezTo>
                  <a:pt x="608864" y="963542"/>
                  <a:pt x="573556" y="982309"/>
                  <a:pt x="542194" y="983673"/>
                </a:cubicBezTo>
                <a:cubicBezTo>
                  <a:pt x="454531" y="987485"/>
                  <a:pt x="366703" y="983673"/>
                  <a:pt x="278958" y="983673"/>
                </a:cubicBezTo>
              </a:path>
            </a:pathLst>
          </a:cu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214282" y="4429132"/>
            <a:ext cx="4000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 smtClean="0">
                <a:solidFill>
                  <a:srgbClr val="FF0000"/>
                </a:solidFill>
              </a:rPr>
              <a:t>Data dependency!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000496" y="1785926"/>
            <a:ext cx="514350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Solution: add bubble</a:t>
            </a:r>
            <a:endParaRPr lang="en-US" altLang="zh-CN" sz="2800" dirty="0" smtClean="0"/>
          </a:p>
          <a:p>
            <a:pPr marL="514350" indent="-514350"/>
            <a:r>
              <a:rPr lang="en-US" altLang="zh-CN" sz="2800" dirty="0" smtClean="0"/>
              <a:t>1.Software</a:t>
            </a:r>
            <a:endParaRPr lang="en-US" altLang="zh-CN" sz="2800" dirty="0" smtClean="0"/>
          </a:p>
          <a:p>
            <a:pPr marL="971550" lvl="1" indent="-514350">
              <a:buFont typeface="Arial" panose="02080604020202020204" pitchFamily="34" charset="0"/>
              <a:buChar char="•"/>
            </a:pPr>
            <a:r>
              <a:rPr lang="en-US" altLang="zh-CN" sz="2800" dirty="0" smtClean="0"/>
              <a:t>Convenient</a:t>
            </a:r>
            <a:endParaRPr lang="en-US" altLang="zh-CN" sz="2800" dirty="0" smtClean="0"/>
          </a:p>
          <a:p>
            <a:pPr marL="971550" lvl="1" indent="-514350">
              <a:buFont typeface="Arial" panose="02080604020202020204" pitchFamily="34" charset="0"/>
              <a:buChar char="•"/>
            </a:pPr>
            <a:r>
              <a:rPr lang="en-US" altLang="zh-CN" sz="2800" dirty="0" smtClean="0"/>
              <a:t>disturbing branch and jump!</a:t>
            </a:r>
            <a:endParaRPr lang="en-US" altLang="zh-CN" sz="2800" dirty="0" smtClean="0"/>
          </a:p>
          <a:p>
            <a:pPr>
              <a:buFont typeface="Arial" panose="02080604020202020204" pitchFamily="34" charset="0"/>
              <a:buChar char="•"/>
            </a:pPr>
            <a:endParaRPr lang="en-US" altLang="zh-CN" sz="2800" dirty="0" smtClean="0"/>
          </a:p>
          <a:p>
            <a:r>
              <a:rPr lang="en-US" altLang="zh-CN" sz="2800" dirty="0" smtClean="0"/>
              <a:t>2. Hardware</a:t>
            </a:r>
            <a:endParaRPr lang="en-US" altLang="zh-CN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71406" y="692696"/>
            <a:ext cx="8496944" cy="456132"/>
          </a:xfrm>
        </p:spPr>
        <p:txBody>
          <a:bodyPr>
            <a:noAutofit/>
          </a:bodyPr>
          <a:lstStyle/>
          <a:p>
            <a:r>
              <a:rPr lang="en-US" sz="2700" b="0" dirty="0" smtClean="0"/>
              <a:t>Stall</a:t>
            </a:r>
            <a:endParaRPr lang="en-US" sz="2700" b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6200" y="533400"/>
            <a:ext cx="8991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200" y="155264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Voice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9938" name="Picture 2" descr="H:\stalll.png"/>
          <p:cNvPicPr>
            <a:picLocks noChangeAspect="1" noChangeArrowheads="1"/>
          </p:cNvPicPr>
          <p:nvPr/>
        </p:nvPicPr>
        <p:blipFill>
          <a:blip r:embed="rId1"/>
          <a:srcRect l="-1015" t="26256" r="29318" b="35399"/>
          <a:stretch>
            <a:fillRect/>
          </a:stretch>
        </p:blipFill>
        <p:spPr bwMode="auto">
          <a:xfrm>
            <a:off x="500034" y="1214422"/>
            <a:ext cx="6357982" cy="2760162"/>
          </a:xfrm>
          <a:prstGeom prst="rect">
            <a:avLst/>
          </a:prstGeom>
          <a:noFill/>
        </p:spPr>
      </p:pic>
      <p:sp>
        <p:nvSpPr>
          <p:cNvPr id="12" name="TextBox 11"/>
          <p:cNvSpPr txBox="1"/>
          <p:nvPr/>
        </p:nvSpPr>
        <p:spPr>
          <a:xfrm>
            <a:off x="642910" y="5143512"/>
            <a:ext cx="8143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altLang="zh-CN" dirty="0" smtClean="0"/>
              <a:t>bubble&lt;= '1'when ((I_E_MemRead ='1') and ((I_E_RegisterRt = I_I_RegisterRs) 	or 		(I_E_RegisterRt = I_I_RegisterRt)))else          </a:t>
            </a:r>
            <a:endParaRPr lang="nn-NO" altLang="zh-CN" dirty="0" smtClean="0"/>
          </a:p>
          <a:p>
            <a:r>
              <a:rPr lang="nn-NO" altLang="zh-CN" dirty="0" smtClean="0"/>
              <a:t>	 '0';</a:t>
            </a:r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928662" y="3357562"/>
            <a:ext cx="1785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Halt: 010 </a:t>
            </a:r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57158" y="4143380"/>
            <a:ext cx="2000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Stop PC and the first stage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6200" y="533400"/>
            <a:ext cx="8991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200" y="155264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Voice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49896" y="533400"/>
            <a:ext cx="3654152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700" dirty="0" smtClean="0"/>
              <a:t>Single cycle layout:</a:t>
            </a:r>
            <a:endParaRPr lang="en-US" sz="27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1041231"/>
            <a:ext cx="5832648" cy="576967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533400"/>
            <a:ext cx="153663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700" b="1" dirty="0">
                <a:solidFill>
                  <a:schemeClr val="tx2"/>
                </a:solidFill>
              </a:rPr>
              <a:t>L</a:t>
            </a:r>
            <a:r>
              <a:rPr lang="en-US" sz="2700" b="1" dirty="0" smtClean="0">
                <a:solidFill>
                  <a:schemeClr val="tx2"/>
                </a:solidFill>
              </a:rPr>
              <a:t>ayout:</a:t>
            </a:r>
            <a:endParaRPr lang="en-US" sz="27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601544" y="6316844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6200" y="533400"/>
            <a:ext cx="8991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200" y="155264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Voice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Text Placeholder 1"/>
          <p:cNvSpPr>
            <a:spLocks noGrp="1"/>
          </p:cNvSpPr>
          <p:nvPr>
            <p:ph type="body" idx="1"/>
          </p:nvPr>
        </p:nvSpPr>
        <p:spPr>
          <a:xfrm>
            <a:off x="142844" y="642918"/>
            <a:ext cx="8786842" cy="242889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Problem: </a:t>
            </a:r>
            <a:r>
              <a:rPr lang="en-US" sz="2800" b="0" dirty="0" smtClean="0"/>
              <a:t>How </a:t>
            </a:r>
            <a:r>
              <a:rPr lang="en-US" sz="2800" b="0" dirty="0"/>
              <a:t>to simulate the design in different levels</a:t>
            </a:r>
            <a:r>
              <a:rPr lang="en-US" sz="2800" b="0" dirty="0" smtClean="0"/>
              <a:t>?</a:t>
            </a:r>
            <a:endParaRPr lang="en-US" sz="2800" b="0" dirty="0" smtClean="0"/>
          </a:p>
          <a:p>
            <a:r>
              <a:rPr lang="en-US" sz="2800" dirty="0" smtClean="0"/>
              <a:t>Solution: </a:t>
            </a:r>
            <a:r>
              <a:rPr lang="en-US" sz="2800" b="0" dirty="0" smtClean="0"/>
              <a:t>Using test bench</a:t>
            </a:r>
            <a:endParaRPr lang="en-US" sz="2800" b="0" dirty="0" smtClean="0"/>
          </a:p>
          <a:p>
            <a:endParaRPr lang="en-US" sz="2800" dirty="0"/>
          </a:p>
          <a:p>
            <a:endParaRPr lang="en-US" sz="28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sz="28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073" name="Picture 1" descr="H:\testbench.png"/>
          <p:cNvPicPr>
            <a:picLocks noChangeAspect="1" noChangeArrowheads="1"/>
          </p:cNvPicPr>
          <p:nvPr/>
        </p:nvPicPr>
        <p:blipFill>
          <a:blip r:embed="rId1"/>
          <a:srcRect l="11438" t="29896" r="20337" b="19410"/>
          <a:stretch>
            <a:fillRect/>
          </a:stretch>
        </p:blipFill>
        <p:spPr bwMode="auto">
          <a:xfrm>
            <a:off x="42098" y="1500174"/>
            <a:ext cx="9030496" cy="485778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6200" y="533400"/>
            <a:ext cx="8991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200" y="155264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Voice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0582" y="544488"/>
            <a:ext cx="4441418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700" dirty="0" smtClean="0"/>
              <a:t>Single cycle simulation result:</a:t>
            </a:r>
            <a:endParaRPr lang="en-US" sz="2700" dirty="0"/>
          </a:p>
        </p:txBody>
      </p:sp>
      <p:pic>
        <p:nvPicPr>
          <p:cNvPr id="38914" name="Picture 2" descr="H:\vlsi-ping\singlecycle-comparison.png"/>
          <p:cNvPicPr>
            <a:picLocks noChangeAspect="1" noChangeArrowheads="1"/>
          </p:cNvPicPr>
          <p:nvPr/>
        </p:nvPicPr>
        <p:blipFill>
          <a:blip r:embed="rId1"/>
          <a:srcRect l="22989" t="13750" b="23125"/>
          <a:stretch>
            <a:fillRect/>
          </a:stretch>
        </p:blipFill>
        <p:spPr bwMode="auto">
          <a:xfrm>
            <a:off x="130582" y="988228"/>
            <a:ext cx="8947618" cy="5500726"/>
          </a:xfrm>
          <a:prstGeom prst="rect">
            <a:avLst/>
          </a:prstGeom>
          <a:noFill/>
        </p:spPr>
      </p:pic>
      <p:sp>
        <p:nvSpPr>
          <p:cNvPr id="2" name="Rectangle 1"/>
          <p:cNvSpPr/>
          <p:nvPr/>
        </p:nvSpPr>
        <p:spPr>
          <a:xfrm>
            <a:off x="76200" y="1124744"/>
            <a:ext cx="8744272" cy="720080"/>
          </a:xfrm>
          <a:prstGeom prst="rect">
            <a:avLst/>
          </a:prstGeom>
          <a:noFill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6200" y="1844824"/>
            <a:ext cx="8744272" cy="720080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6200" y="2518653"/>
            <a:ext cx="8744272" cy="72008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9552" y="1300118"/>
            <a:ext cx="920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</a:t>
            </a:r>
            <a:r>
              <a:rPr lang="en-US" dirty="0" smtClean="0">
                <a:solidFill>
                  <a:srgbClr val="FF0000"/>
                </a:solidFill>
              </a:rPr>
              <a:t>ayout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9552" y="2005534"/>
            <a:ext cx="1287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Synthesize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91952" y="2694027"/>
            <a:ext cx="920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BEH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6200" y="533400"/>
            <a:ext cx="8991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200" y="155264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Voice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0582" y="544488"/>
            <a:ext cx="4441418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700" dirty="0" smtClean="0"/>
              <a:t>Single cycle simulation result:</a:t>
            </a:r>
            <a:endParaRPr lang="en-US" sz="2700" dirty="0"/>
          </a:p>
        </p:txBody>
      </p:sp>
      <p:pic>
        <p:nvPicPr>
          <p:cNvPr id="38914" name="Picture 2" descr="H:\vlsi-ping\singlecycle-comparison.png"/>
          <p:cNvPicPr>
            <a:picLocks noChangeAspect="1" noChangeArrowheads="1"/>
          </p:cNvPicPr>
          <p:nvPr/>
        </p:nvPicPr>
        <p:blipFill rotWithShape="1">
          <a:blip r:embed="rId1"/>
          <a:srcRect l="39047" t="58571" b="23125"/>
          <a:stretch>
            <a:fillRect/>
          </a:stretch>
        </p:blipFill>
        <p:spPr bwMode="auto">
          <a:xfrm>
            <a:off x="755576" y="1556792"/>
            <a:ext cx="7673449" cy="1728192"/>
          </a:xfrm>
          <a:prstGeom prst="rect">
            <a:avLst/>
          </a:prstGeom>
          <a:noFill/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31640" y="3789040"/>
          <a:ext cx="6096000" cy="162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44284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delay</a:t>
                      </a:r>
                      <a:endParaRPr lang="en-US" dirty="0"/>
                    </a:p>
                  </a:txBody>
                  <a:tcPr/>
                </a:tc>
              </a:tr>
              <a:tr h="442848">
                <a:tc>
                  <a:txBody>
                    <a:bodyPr/>
                    <a:lstStyle/>
                    <a:p>
                      <a:r>
                        <a:rPr lang="en-US" dirty="0" smtClean="0"/>
                        <a:t>Functional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7000000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ps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Synthesis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7000780 </a:t>
                      </a:r>
                      <a:r>
                        <a:rPr lang="en-US" dirty="0" err="1" smtClean="0"/>
                        <a:t>ps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780 </a:t>
                      </a:r>
                      <a:r>
                        <a:rPr lang="en-US" dirty="0" err="1" smtClean="0"/>
                        <a:t>ps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layout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7003460 </a:t>
                      </a:r>
                      <a:r>
                        <a:rPr lang="en-US" dirty="0" err="1" smtClean="0"/>
                        <a:t>ps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3460 </a:t>
                      </a:r>
                      <a:r>
                        <a:rPr lang="en-US" dirty="0" err="1" smtClean="0"/>
                        <a:t>ps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6200" y="533400"/>
            <a:ext cx="8991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200" y="155264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Voice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0582" y="544488"/>
            <a:ext cx="307326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700" dirty="0" smtClean="0"/>
              <a:t>Pipeline layout</a:t>
            </a:r>
            <a:endParaRPr lang="en-US" sz="27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82" y="1052319"/>
            <a:ext cx="8833906" cy="56745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6200" y="533400"/>
            <a:ext cx="8991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200" y="155264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Voice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0582" y="544488"/>
            <a:ext cx="487004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700" dirty="0" smtClean="0"/>
              <a:t>Pipeline simulation result</a:t>
            </a:r>
            <a:endParaRPr lang="en-US" sz="27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42" t="10112" b="24858"/>
          <a:stretch>
            <a:fillRect/>
          </a:stretch>
        </p:blipFill>
        <p:spPr>
          <a:xfrm>
            <a:off x="251520" y="1052318"/>
            <a:ext cx="8788778" cy="49689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6200" y="533400"/>
            <a:ext cx="8991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200" y="155264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Voice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0582" y="544488"/>
            <a:ext cx="487004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700" dirty="0" smtClean="0"/>
              <a:t>Pipeline simulation result</a:t>
            </a:r>
            <a:endParaRPr lang="en-US" sz="27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910" t="63759" b="24858"/>
          <a:stretch>
            <a:fillRect/>
          </a:stretch>
        </p:blipFill>
        <p:spPr>
          <a:xfrm>
            <a:off x="446511" y="1268760"/>
            <a:ext cx="8539882" cy="1296144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524000" y="4005064"/>
          <a:ext cx="6096000" cy="1627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44284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delay</a:t>
                      </a:r>
                      <a:endParaRPr lang="en-US" dirty="0"/>
                    </a:p>
                  </a:txBody>
                  <a:tcPr/>
                </a:tc>
              </a:tr>
              <a:tr h="442848">
                <a:tc>
                  <a:txBody>
                    <a:bodyPr/>
                    <a:lstStyle/>
                    <a:p>
                      <a:r>
                        <a:rPr lang="en-US" dirty="0" smtClean="0"/>
                        <a:t>Functional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167500 </a:t>
                      </a:r>
                      <a:r>
                        <a:rPr lang="en-US" baseline="0" dirty="0" err="1" smtClean="0"/>
                        <a:t>ps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Synthesis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167760 </a:t>
                      </a:r>
                      <a:r>
                        <a:rPr lang="en-US" dirty="0" err="1" smtClean="0"/>
                        <a:t>ps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260 </a:t>
                      </a:r>
                      <a:r>
                        <a:rPr lang="en-US" dirty="0" err="1" smtClean="0"/>
                        <a:t>ps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layout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167820 </a:t>
                      </a:r>
                      <a:r>
                        <a:rPr lang="en-US" dirty="0" err="1" smtClean="0"/>
                        <a:t>ps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3200 </a:t>
                      </a:r>
                      <a:r>
                        <a:rPr lang="en-US" dirty="0" err="1" smtClean="0"/>
                        <a:t>ps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6200" y="533400"/>
            <a:ext cx="8991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200" y="155264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Voice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0582" y="544488"/>
            <a:ext cx="487004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700" dirty="0" smtClean="0"/>
              <a:t>Problems and solutions….</a:t>
            </a:r>
            <a:endParaRPr lang="en-US" sz="2700" dirty="0"/>
          </a:p>
        </p:txBody>
      </p:sp>
      <p:sp>
        <p:nvSpPr>
          <p:cNvPr id="2" name="TextBox 1"/>
          <p:cNvSpPr txBox="1"/>
          <p:nvPr/>
        </p:nvSpPr>
        <p:spPr>
          <a:xfrm>
            <a:off x="271760" y="1080120"/>
            <a:ext cx="862071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When do synthesize…</a:t>
            </a:r>
            <a:endPara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 smtClean="0"/>
              <a:t>Problem:   Wrong result</a:t>
            </a:r>
            <a:endParaRPr lang="en-US" dirty="0" smtClean="0"/>
          </a:p>
          <a:p>
            <a:r>
              <a:rPr lang="en-US" dirty="0" smtClean="0"/>
              <a:t>Reason: </a:t>
            </a:r>
            <a:r>
              <a:rPr lang="en-US" altLang="zh-CN" dirty="0"/>
              <a:t>The </a:t>
            </a:r>
            <a:r>
              <a:rPr lang="en-US" altLang="zh-CN" dirty="0" err="1"/>
              <a:t>Moduleware’s</a:t>
            </a:r>
            <a:r>
              <a:rPr lang="en-US" altLang="zh-CN" dirty="0"/>
              <a:t> register file is triggered by electric level, instead of edge.</a:t>
            </a:r>
            <a:endParaRPr lang="en-US" altLang="zh-CN" dirty="0"/>
          </a:p>
          <a:p>
            <a:r>
              <a:rPr lang="en-US" altLang="zh-CN" dirty="0" smtClean="0"/>
              <a:t>               Write </a:t>
            </a:r>
            <a:r>
              <a:rPr lang="en-US" altLang="zh-CN" dirty="0"/>
              <a:t>and read simultaneously lead to errors</a:t>
            </a:r>
            <a:r>
              <a:rPr lang="en-US" altLang="zh-CN" dirty="0" smtClean="0"/>
              <a:t>.</a:t>
            </a:r>
            <a:endParaRPr lang="en-US" altLang="zh-CN" dirty="0" smtClean="0"/>
          </a:p>
          <a:p>
            <a:endPara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When do place and route…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 smtClean="0"/>
              <a:t>Problem: Red waveform</a:t>
            </a:r>
            <a:endParaRPr lang="en-US" dirty="0" smtClean="0"/>
          </a:p>
          <a:p>
            <a:r>
              <a:rPr lang="en-US" dirty="0" smtClean="0"/>
              <a:t>Reason:  Write enable and Read enable signal overlap</a:t>
            </a:r>
            <a:endParaRPr lang="en-US" dirty="0" smtClean="0"/>
          </a:p>
          <a:p>
            <a:r>
              <a:rPr lang="en-US" dirty="0" smtClean="0"/>
              <a:t>Solution:</a:t>
            </a:r>
            <a:endParaRPr lang="en-US" dirty="0" smtClean="0"/>
          </a:p>
        </p:txBody>
      </p:sp>
      <p:grpSp>
        <p:nvGrpSpPr>
          <p:cNvPr id="3" name="Group 2"/>
          <p:cNvGrpSpPr/>
          <p:nvPr/>
        </p:nvGrpSpPr>
        <p:grpSpPr>
          <a:xfrm>
            <a:off x="612561" y="3751437"/>
            <a:ext cx="7632844" cy="2140418"/>
            <a:chOff x="298664" y="2929789"/>
            <a:chExt cx="7632844" cy="2140418"/>
          </a:xfrm>
        </p:grpSpPr>
        <p:grpSp>
          <p:nvGrpSpPr>
            <p:cNvPr id="10" name="组合 19"/>
            <p:cNvGrpSpPr/>
            <p:nvPr/>
          </p:nvGrpSpPr>
          <p:grpSpPr>
            <a:xfrm>
              <a:off x="298664" y="2969144"/>
              <a:ext cx="4701964" cy="914745"/>
              <a:chOff x="642910" y="4059800"/>
              <a:chExt cx="4681911" cy="869398"/>
            </a:xfrm>
          </p:grpSpPr>
          <p:sp>
            <p:nvSpPr>
              <p:cNvPr id="11" name="流程图: 延期 11"/>
              <p:cNvSpPr/>
              <p:nvPr/>
            </p:nvSpPr>
            <p:spPr>
              <a:xfrm>
                <a:off x="2428860" y="4143380"/>
                <a:ext cx="785818" cy="785818"/>
              </a:xfrm>
              <a:prstGeom prst="flowChartDelay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3"/>
              <p:cNvCxnSpPr/>
              <p:nvPr/>
            </p:nvCxnSpPr>
            <p:spPr>
              <a:xfrm>
                <a:off x="1571604" y="4357694"/>
                <a:ext cx="857256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4"/>
              <p:cNvCxnSpPr/>
              <p:nvPr/>
            </p:nvCxnSpPr>
            <p:spPr>
              <a:xfrm>
                <a:off x="1571604" y="4786322"/>
                <a:ext cx="857256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5"/>
              <p:cNvCxnSpPr>
                <a:endCxn id="27" idx="3"/>
              </p:cNvCxnSpPr>
              <p:nvPr/>
            </p:nvCxnSpPr>
            <p:spPr>
              <a:xfrm>
                <a:off x="3214678" y="4510094"/>
                <a:ext cx="2110143" cy="158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/>
              <p:cNvSpPr txBox="1"/>
              <p:nvPr/>
            </p:nvSpPr>
            <p:spPr>
              <a:xfrm>
                <a:off x="642910" y="4059800"/>
                <a:ext cx="15001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 smtClean="0"/>
                  <a:t>Write enable</a:t>
                </a:r>
                <a:endParaRPr lang="zh-CN" altLang="en-US" dirty="0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714348" y="4488428"/>
                <a:ext cx="15001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 smtClean="0"/>
                  <a:t>CLK</a:t>
                </a:r>
                <a:endParaRPr lang="zh-CN" altLang="en-US" dirty="0"/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3500430" y="4212200"/>
                <a:ext cx="15001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 smtClean="0"/>
                  <a:t>Write enable’</a:t>
                </a:r>
                <a:endParaRPr lang="en-US" altLang="zh-CN" dirty="0" smtClean="0"/>
              </a:p>
            </p:txBody>
          </p:sp>
        </p:grpSp>
        <p:grpSp>
          <p:nvGrpSpPr>
            <p:cNvPr id="18" name="组合 20"/>
            <p:cNvGrpSpPr/>
            <p:nvPr/>
          </p:nvGrpSpPr>
          <p:grpSpPr>
            <a:xfrm>
              <a:off x="370408" y="4126770"/>
              <a:ext cx="4630220" cy="869398"/>
              <a:chOff x="642910" y="4059800"/>
              <a:chExt cx="4945028" cy="869398"/>
            </a:xfrm>
          </p:grpSpPr>
          <p:sp>
            <p:nvSpPr>
              <p:cNvPr id="19" name="流程图: 延期 21"/>
              <p:cNvSpPr/>
              <p:nvPr/>
            </p:nvSpPr>
            <p:spPr>
              <a:xfrm>
                <a:off x="2428860" y="4143380"/>
                <a:ext cx="785818" cy="785818"/>
              </a:xfrm>
              <a:prstGeom prst="flowChartDelay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0" name="直接连接符 22"/>
              <p:cNvCxnSpPr/>
              <p:nvPr/>
            </p:nvCxnSpPr>
            <p:spPr>
              <a:xfrm>
                <a:off x="1571604" y="4357694"/>
                <a:ext cx="857256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3"/>
              <p:cNvCxnSpPr/>
              <p:nvPr/>
            </p:nvCxnSpPr>
            <p:spPr>
              <a:xfrm>
                <a:off x="1571604" y="4786322"/>
                <a:ext cx="857256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4"/>
              <p:cNvCxnSpPr/>
              <p:nvPr/>
            </p:nvCxnSpPr>
            <p:spPr>
              <a:xfrm>
                <a:off x="3214678" y="4510094"/>
                <a:ext cx="2373260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Box 22"/>
              <p:cNvSpPr txBox="1"/>
              <p:nvPr/>
            </p:nvSpPr>
            <p:spPr>
              <a:xfrm>
                <a:off x="642910" y="4059800"/>
                <a:ext cx="15001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 smtClean="0"/>
                  <a:t>Read enable</a:t>
                </a:r>
                <a:endParaRPr lang="zh-CN" altLang="en-US" dirty="0"/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714348" y="4488428"/>
                <a:ext cx="15001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 smtClean="0"/>
                  <a:t>CLK</a:t>
                </a:r>
                <a:endParaRPr lang="zh-CN" altLang="en-US" dirty="0"/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3500430" y="4212200"/>
                <a:ext cx="15001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 smtClean="0"/>
                  <a:t>Read enable’</a:t>
                </a:r>
                <a:endParaRPr lang="en-US" altLang="zh-CN" dirty="0" smtClean="0"/>
              </a:p>
            </p:txBody>
          </p:sp>
        </p:grpSp>
        <p:cxnSp>
          <p:nvCxnSpPr>
            <p:cNvPr id="26" name="直接连接符 29"/>
            <p:cNvCxnSpPr/>
            <p:nvPr/>
          </p:nvCxnSpPr>
          <p:spPr>
            <a:xfrm>
              <a:off x="519110" y="4603259"/>
              <a:ext cx="35719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Isosceles Triangle 26"/>
            <p:cNvSpPr/>
            <p:nvPr/>
          </p:nvSpPr>
          <p:spPr>
            <a:xfrm rot="5400000">
              <a:off x="4891669" y="3038747"/>
              <a:ext cx="1029616" cy="811699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 rot="5400000">
              <a:off x="4891669" y="4149549"/>
              <a:ext cx="1029616" cy="811699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直接连接符 15"/>
            <p:cNvCxnSpPr/>
            <p:nvPr/>
          </p:nvCxnSpPr>
          <p:spPr>
            <a:xfrm>
              <a:off x="5652120" y="3441253"/>
              <a:ext cx="2119181" cy="16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15"/>
            <p:cNvCxnSpPr/>
            <p:nvPr/>
          </p:nvCxnSpPr>
          <p:spPr>
            <a:xfrm>
              <a:off x="5812327" y="4555398"/>
              <a:ext cx="2119181" cy="16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6200" y="533400"/>
            <a:ext cx="8991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200" y="155264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Voice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0582" y="544488"/>
            <a:ext cx="487004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700" dirty="0" smtClean="0"/>
              <a:t>Problems and solutions….</a:t>
            </a:r>
            <a:endParaRPr lang="en-US" sz="2700" dirty="0"/>
          </a:p>
        </p:txBody>
      </p:sp>
      <p:pic>
        <p:nvPicPr>
          <p:cNvPr id="1026" name="Picture 2" descr="C:\Users\Thinkpad\Desktop\Untitled.png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80" t="6800" r="21645"/>
          <a:stretch>
            <a:fillRect/>
          </a:stretch>
        </p:blipFill>
        <p:spPr bwMode="auto">
          <a:xfrm>
            <a:off x="1676400" y="1337480"/>
            <a:ext cx="6134597" cy="4527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6200" y="533400"/>
            <a:ext cx="8991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200" y="155264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Voice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0582" y="544488"/>
            <a:ext cx="487004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700" dirty="0" smtClean="0"/>
              <a:t>Assembler</a:t>
            </a:r>
            <a:endParaRPr lang="en-US" sz="2700" dirty="0"/>
          </a:p>
        </p:txBody>
      </p:sp>
      <p:sp>
        <p:nvSpPr>
          <p:cNvPr id="2" name="TextBox 1"/>
          <p:cNvSpPr txBox="1"/>
          <p:nvPr/>
        </p:nvSpPr>
        <p:spPr>
          <a:xfrm>
            <a:off x="2565605" y="849128"/>
            <a:ext cx="3888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Add bubble? Yes!</a:t>
            </a:r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323528" y="2147371"/>
            <a:ext cx="239955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latin typeface="Courier New"/>
              </a:rPr>
              <a:t>......</a:t>
            </a:r>
            <a:endParaRPr lang="pt-BR" b="1" dirty="0" smtClean="0">
              <a:latin typeface="Courier New"/>
            </a:endParaRPr>
          </a:p>
          <a:p>
            <a:r>
              <a:rPr lang="pt-BR" b="1" dirty="0" smtClean="0">
                <a:solidFill>
                  <a:srgbClr val="0000FF"/>
                </a:solidFill>
                <a:latin typeface="Courier New"/>
              </a:rPr>
              <a:t>mul</a:t>
            </a:r>
            <a:r>
              <a:rPr lang="pt-BR" b="1" dirty="0" smtClean="0">
                <a:solidFill>
                  <a:srgbClr val="000000"/>
                </a:solidFill>
                <a:latin typeface="Courier New"/>
              </a:rPr>
              <a:t> </a:t>
            </a:r>
            <a:r>
              <a:rPr lang="pt-BR" b="1" dirty="0">
                <a:solidFill>
                  <a:srgbClr val="000000"/>
                </a:solidFill>
                <a:latin typeface="Courier New"/>
              </a:rPr>
              <a:t>r1</a:t>
            </a:r>
            <a:r>
              <a:rPr lang="pt-BR" b="1" dirty="0">
                <a:solidFill>
                  <a:srgbClr val="000080"/>
                </a:solidFill>
                <a:latin typeface="Courier New"/>
              </a:rPr>
              <a:t>,</a:t>
            </a:r>
            <a:r>
              <a:rPr lang="pt-BR" b="1" dirty="0">
                <a:solidFill>
                  <a:srgbClr val="000000"/>
                </a:solidFill>
                <a:latin typeface="Courier New"/>
              </a:rPr>
              <a:t>r0</a:t>
            </a:r>
            <a:r>
              <a:rPr lang="pt-BR" b="1" dirty="0">
                <a:solidFill>
                  <a:srgbClr val="000080"/>
                </a:solidFill>
                <a:latin typeface="Courier New"/>
              </a:rPr>
              <a:t>,</a:t>
            </a:r>
            <a:r>
              <a:rPr lang="pt-BR" b="1" dirty="0">
                <a:solidFill>
                  <a:srgbClr val="000000"/>
                </a:solidFill>
                <a:latin typeface="Courier New"/>
              </a:rPr>
              <a:t>r1 </a:t>
            </a:r>
            <a:endParaRPr lang="pt-BR" b="1" dirty="0" smtClean="0">
              <a:solidFill>
                <a:srgbClr val="000000"/>
              </a:solidFill>
              <a:latin typeface="Courier New"/>
            </a:endParaRPr>
          </a:p>
          <a:p>
            <a:r>
              <a:rPr lang="pt-BR" b="1" dirty="0" smtClean="0">
                <a:solidFill>
                  <a:srgbClr val="000000"/>
                </a:solidFill>
                <a:latin typeface="Courier New"/>
              </a:rPr>
              <a:t>sw </a:t>
            </a:r>
            <a:r>
              <a:rPr lang="pt-BR" b="1" dirty="0">
                <a:solidFill>
                  <a:srgbClr val="000000"/>
                </a:solidFill>
                <a:latin typeface="Courier New"/>
              </a:rPr>
              <a:t>r1</a:t>
            </a:r>
            <a:r>
              <a:rPr lang="pt-BR" b="1" dirty="0">
                <a:solidFill>
                  <a:srgbClr val="000080"/>
                </a:solidFill>
                <a:latin typeface="Courier New"/>
              </a:rPr>
              <a:t>,</a:t>
            </a:r>
            <a:r>
              <a:rPr lang="pt-BR" b="1" dirty="0">
                <a:solidFill>
                  <a:srgbClr val="000000"/>
                </a:solidFill>
                <a:latin typeface="Courier New"/>
              </a:rPr>
              <a:t>r0</a:t>
            </a:r>
            <a:r>
              <a:rPr lang="pt-BR" b="1" dirty="0">
                <a:solidFill>
                  <a:srgbClr val="000080"/>
                </a:solidFill>
                <a:latin typeface="Courier New"/>
              </a:rPr>
              <a:t>,</a:t>
            </a:r>
            <a:r>
              <a:rPr lang="pt-BR" b="1" dirty="0">
                <a:solidFill>
                  <a:srgbClr val="FF8000"/>
                </a:solidFill>
                <a:latin typeface="Courier New"/>
              </a:rPr>
              <a:t>0</a:t>
            </a:r>
            <a:r>
              <a:rPr lang="pt-BR" b="1" dirty="0">
                <a:solidFill>
                  <a:srgbClr val="000000"/>
                </a:solidFill>
                <a:latin typeface="Courier New"/>
              </a:rPr>
              <a:t> </a:t>
            </a:r>
            <a:endParaRPr lang="pt-BR" b="1" dirty="0" smtClean="0">
              <a:solidFill>
                <a:srgbClr val="000000"/>
              </a:solidFill>
              <a:latin typeface="Courier New"/>
            </a:endParaRPr>
          </a:p>
          <a:p>
            <a:r>
              <a:rPr lang="pt-BR" b="1" dirty="0" smtClean="0">
                <a:solidFill>
                  <a:srgbClr val="000000"/>
                </a:solidFill>
                <a:latin typeface="Courier New"/>
              </a:rPr>
              <a:t>lw </a:t>
            </a:r>
            <a:r>
              <a:rPr lang="pt-BR" b="1" dirty="0">
                <a:solidFill>
                  <a:srgbClr val="000000"/>
                </a:solidFill>
                <a:latin typeface="Courier New"/>
              </a:rPr>
              <a:t>r2</a:t>
            </a:r>
            <a:r>
              <a:rPr lang="pt-BR" b="1" dirty="0">
                <a:solidFill>
                  <a:srgbClr val="000080"/>
                </a:solidFill>
                <a:latin typeface="Courier New"/>
              </a:rPr>
              <a:t>,</a:t>
            </a:r>
            <a:r>
              <a:rPr lang="pt-BR" b="1" dirty="0">
                <a:solidFill>
                  <a:srgbClr val="000000"/>
                </a:solidFill>
                <a:latin typeface="Courier New"/>
              </a:rPr>
              <a:t>r0</a:t>
            </a:r>
            <a:r>
              <a:rPr lang="pt-BR" b="1" dirty="0">
                <a:solidFill>
                  <a:srgbClr val="000080"/>
                </a:solidFill>
                <a:latin typeface="Courier New"/>
              </a:rPr>
              <a:t>,</a:t>
            </a:r>
            <a:r>
              <a:rPr lang="pt-BR" b="1" dirty="0">
                <a:solidFill>
                  <a:srgbClr val="FF8000"/>
                </a:solidFill>
                <a:latin typeface="Courier New"/>
              </a:rPr>
              <a:t>0</a:t>
            </a:r>
            <a:r>
              <a:rPr lang="pt-BR" b="1" dirty="0">
                <a:solidFill>
                  <a:srgbClr val="000000"/>
                </a:solidFill>
                <a:latin typeface="Courier New"/>
              </a:rPr>
              <a:t> </a:t>
            </a:r>
            <a:endParaRPr lang="pt-BR" b="1" dirty="0" smtClean="0">
              <a:solidFill>
                <a:srgbClr val="000000"/>
              </a:solidFill>
              <a:latin typeface="Courier New"/>
            </a:endParaRPr>
          </a:p>
          <a:p>
            <a:r>
              <a:rPr lang="pt-BR" b="1" dirty="0" smtClean="0">
                <a:solidFill>
                  <a:srgbClr val="000000"/>
                </a:solidFill>
                <a:latin typeface="Courier New"/>
              </a:rPr>
              <a:t>beq </a:t>
            </a:r>
            <a:r>
              <a:rPr lang="pt-BR" b="1" dirty="0">
                <a:solidFill>
                  <a:srgbClr val="000000"/>
                </a:solidFill>
                <a:latin typeface="Courier New"/>
              </a:rPr>
              <a:t>r1</a:t>
            </a:r>
            <a:r>
              <a:rPr lang="pt-BR" b="1" dirty="0">
                <a:solidFill>
                  <a:srgbClr val="000080"/>
                </a:solidFill>
                <a:latin typeface="Courier New"/>
              </a:rPr>
              <a:t>,</a:t>
            </a:r>
            <a:r>
              <a:rPr lang="pt-BR" b="1" dirty="0">
                <a:solidFill>
                  <a:srgbClr val="000000"/>
                </a:solidFill>
                <a:latin typeface="Courier New"/>
              </a:rPr>
              <a:t>r2</a:t>
            </a:r>
            <a:r>
              <a:rPr lang="pt-BR" b="1" dirty="0">
                <a:solidFill>
                  <a:srgbClr val="000080"/>
                </a:solidFill>
                <a:latin typeface="Courier New"/>
              </a:rPr>
              <a:t>,</a:t>
            </a:r>
            <a:r>
              <a:rPr lang="pt-BR" b="1" dirty="0">
                <a:solidFill>
                  <a:srgbClr val="FF8000"/>
                </a:solidFill>
                <a:latin typeface="Courier New"/>
              </a:rPr>
              <a:t>4</a:t>
            </a:r>
            <a:r>
              <a:rPr lang="pt-BR" b="1" dirty="0">
                <a:solidFill>
                  <a:srgbClr val="000000"/>
                </a:solidFill>
                <a:latin typeface="Courier New"/>
              </a:rPr>
              <a:t> </a:t>
            </a:r>
            <a:endParaRPr lang="pt-BR" b="1" dirty="0" smtClean="0">
              <a:solidFill>
                <a:srgbClr val="000000"/>
              </a:solidFill>
              <a:latin typeface="Courier New"/>
            </a:endParaRPr>
          </a:p>
          <a:p>
            <a:r>
              <a:rPr lang="pt-BR" b="1" dirty="0" smtClean="0">
                <a:solidFill>
                  <a:srgbClr val="000000"/>
                </a:solidFill>
                <a:latin typeface="Courier New"/>
              </a:rPr>
              <a:t>addi </a:t>
            </a:r>
            <a:r>
              <a:rPr lang="pt-BR" b="1" dirty="0">
                <a:solidFill>
                  <a:srgbClr val="000000"/>
                </a:solidFill>
                <a:latin typeface="Courier New"/>
              </a:rPr>
              <a:t>r3</a:t>
            </a:r>
            <a:r>
              <a:rPr lang="pt-BR" b="1" dirty="0">
                <a:solidFill>
                  <a:srgbClr val="000080"/>
                </a:solidFill>
                <a:latin typeface="Courier New"/>
              </a:rPr>
              <a:t>,</a:t>
            </a:r>
            <a:r>
              <a:rPr lang="pt-BR" b="1" dirty="0">
                <a:solidFill>
                  <a:srgbClr val="000000"/>
                </a:solidFill>
                <a:latin typeface="Courier New"/>
              </a:rPr>
              <a:t>r0</a:t>
            </a:r>
            <a:r>
              <a:rPr lang="pt-BR" b="1" dirty="0">
                <a:solidFill>
                  <a:srgbClr val="000080"/>
                </a:solidFill>
                <a:latin typeface="Courier New"/>
              </a:rPr>
              <a:t>,</a:t>
            </a:r>
            <a:r>
              <a:rPr lang="pt-BR" b="1" dirty="0">
                <a:solidFill>
                  <a:srgbClr val="FF8000"/>
                </a:solidFill>
                <a:latin typeface="Courier New"/>
              </a:rPr>
              <a:t>7</a:t>
            </a:r>
            <a:r>
              <a:rPr lang="pt-BR" b="1" dirty="0">
                <a:solidFill>
                  <a:srgbClr val="000000"/>
                </a:solidFill>
                <a:latin typeface="Courier New"/>
              </a:rPr>
              <a:t> </a:t>
            </a:r>
            <a:endParaRPr lang="pt-BR" b="1" dirty="0" smtClean="0">
              <a:solidFill>
                <a:srgbClr val="000000"/>
              </a:solidFill>
              <a:latin typeface="Courier New"/>
            </a:endParaRPr>
          </a:p>
          <a:p>
            <a:r>
              <a:rPr lang="pt-BR" b="1" dirty="0" smtClean="0">
                <a:solidFill>
                  <a:srgbClr val="0000FF"/>
                </a:solidFill>
                <a:latin typeface="Courier New"/>
              </a:rPr>
              <a:t>add</a:t>
            </a:r>
            <a:r>
              <a:rPr lang="pt-BR" b="1" dirty="0" smtClean="0">
                <a:solidFill>
                  <a:srgbClr val="000000"/>
                </a:solidFill>
                <a:latin typeface="Courier New"/>
              </a:rPr>
              <a:t> </a:t>
            </a:r>
            <a:r>
              <a:rPr lang="pt-BR" b="1" dirty="0">
                <a:solidFill>
                  <a:srgbClr val="000000"/>
                </a:solidFill>
                <a:latin typeface="Courier New"/>
              </a:rPr>
              <a:t>r2</a:t>
            </a:r>
            <a:r>
              <a:rPr lang="pt-BR" b="1" dirty="0">
                <a:solidFill>
                  <a:srgbClr val="000080"/>
                </a:solidFill>
                <a:latin typeface="Courier New"/>
              </a:rPr>
              <a:t>,</a:t>
            </a:r>
            <a:r>
              <a:rPr lang="pt-BR" b="1" dirty="0">
                <a:solidFill>
                  <a:srgbClr val="000000"/>
                </a:solidFill>
                <a:latin typeface="Courier New"/>
              </a:rPr>
              <a:t>r2</a:t>
            </a:r>
            <a:r>
              <a:rPr lang="pt-BR" b="1" dirty="0">
                <a:solidFill>
                  <a:srgbClr val="000080"/>
                </a:solidFill>
                <a:latin typeface="Courier New"/>
              </a:rPr>
              <a:t>,</a:t>
            </a:r>
            <a:r>
              <a:rPr lang="pt-BR" b="1" dirty="0">
                <a:solidFill>
                  <a:srgbClr val="000000"/>
                </a:solidFill>
                <a:latin typeface="Courier New"/>
              </a:rPr>
              <a:t>r3 </a:t>
            </a:r>
            <a:endParaRPr lang="pt-BR" b="1" dirty="0" smtClean="0">
              <a:solidFill>
                <a:srgbClr val="000000"/>
              </a:solidFill>
              <a:latin typeface="Courier New"/>
            </a:endParaRPr>
          </a:p>
          <a:p>
            <a:r>
              <a:rPr lang="pt-BR" b="1" dirty="0" smtClean="0">
                <a:solidFill>
                  <a:srgbClr val="0000FF"/>
                </a:solidFill>
                <a:latin typeface="Courier New"/>
              </a:rPr>
              <a:t>sub</a:t>
            </a:r>
            <a:r>
              <a:rPr lang="pt-BR" b="1" dirty="0" smtClean="0">
                <a:solidFill>
                  <a:srgbClr val="000000"/>
                </a:solidFill>
                <a:latin typeface="Courier New"/>
              </a:rPr>
              <a:t> </a:t>
            </a:r>
            <a:r>
              <a:rPr lang="pt-BR" b="1" dirty="0">
                <a:solidFill>
                  <a:srgbClr val="000000"/>
                </a:solidFill>
                <a:latin typeface="Courier New"/>
              </a:rPr>
              <a:t>r2 r2 r1 </a:t>
            </a:r>
            <a:endParaRPr lang="pt-BR" b="1" dirty="0" smtClean="0">
              <a:solidFill>
                <a:srgbClr val="000000"/>
              </a:solidFill>
              <a:latin typeface="Courier New"/>
            </a:endParaRPr>
          </a:p>
          <a:p>
            <a:r>
              <a:rPr lang="pt-BR" b="1" dirty="0" smtClean="0">
                <a:solidFill>
                  <a:srgbClr val="0000FF"/>
                </a:solidFill>
                <a:latin typeface="Courier New"/>
              </a:rPr>
              <a:t>mul</a:t>
            </a:r>
            <a:r>
              <a:rPr lang="pt-BR" b="1" dirty="0" smtClean="0">
                <a:solidFill>
                  <a:srgbClr val="000000"/>
                </a:solidFill>
                <a:latin typeface="Courier New"/>
              </a:rPr>
              <a:t> </a:t>
            </a:r>
            <a:r>
              <a:rPr lang="pt-BR" b="1" dirty="0">
                <a:solidFill>
                  <a:srgbClr val="000000"/>
                </a:solidFill>
                <a:latin typeface="Courier New"/>
              </a:rPr>
              <a:t>r2 r2 r2 </a:t>
            </a:r>
            <a:endParaRPr lang="pt-BR" b="1" dirty="0" smtClean="0">
              <a:solidFill>
                <a:srgbClr val="000000"/>
              </a:solidFill>
              <a:latin typeface="Courier New"/>
            </a:endParaRPr>
          </a:p>
          <a:p>
            <a:r>
              <a:rPr lang="pt-BR" b="1" dirty="0" smtClean="0">
                <a:solidFill>
                  <a:srgbClr val="0000FF"/>
                </a:solidFill>
                <a:latin typeface="Courier New"/>
              </a:rPr>
              <a:t>mul</a:t>
            </a:r>
            <a:r>
              <a:rPr lang="pt-BR" b="1" dirty="0" smtClean="0">
                <a:solidFill>
                  <a:srgbClr val="000000"/>
                </a:solidFill>
                <a:latin typeface="Courier New"/>
              </a:rPr>
              <a:t> </a:t>
            </a:r>
            <a:r>
              <a:rPr lang="pt-BR" b="1" dirty="0">
                <a:solidFill>
                  <a:srgbClr val="000000"/>
                </a:solidFill>
                <a:latin typeface="Courier New"/>
              </a:rPr>
              <a:t>r2 r2 r2 j </a:t>
            </a:r>
            <a:r>
              <a:rPr lang="pt-BR" b="1" dirty="0" smtClean="0">
                <a:solidFill>
                  <a:srgbClr val="FF8000"/>
                </a:solidFill>
                <a:latin typeface="Courier New"/>
              </a:rPr>
              <a:t>8</a:t>
            </a:r>
            <a:endParaRPr lang="pt-BR" b="1" dirty="0" smtClean="0">
              <a:solidFill>
                <a:srgbClr val="FF8000"/>
              </a:solidFill>
              <a:latin typeface="Courier New"/>
            </a:endParaRPr>
          </a:p>
          <a:p>
            <a:r>
              <a:rPr lang="pt-BR" b="1" dirty="0" smtClean="0">
                <a:latin typeface="Courier New"/>
              </a:rPr>
              <a:t>......</a:t>
            </a:r>
            <a:endParaRPr lang="pt-BR" b="1" dirty="0">
              <a:effectLst/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2987824" y="3140968"/>
            <a:ext cx="1800200" cy="1152128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矩形 11"/>
          <p:cNvSpPr/>
          <p:nvPr/>
        </p:nvSpPr>
        <p:spPr>
          <a:xfrm>
            <a:off x="5580112" y="1372348"/>
            <a:ext cx="3078088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 smtClean="0">
                <a:solidFill>
                  <a:srgbClr val="0000FF"/>
                </a:solidFill>
                <a:latin typeface="Courier New"/>
              </a:rPr>
              <a:t>......</a:t>
            </a:r>
            <a:endParaRPr lang="pt-BR" b="1" dirty="0" smtClean="0">
              <a:solidFill>
                <a:srgbClr val="0000FF"/>
              </a:solidFill>
              <a:latin typeface="Courier New"/>
            </a:endParaRPr>
          </a:p>
          <a:p>
            <a:r>
              <a:rPr lang="pt-BR" b="1" dirty="0" smtClean="0">
                <a:solidFill>
                  <a:srgbClr val="0000FF"/>
                </a:solidFill>
                <a:latin typeface="Courier New"/>
              </a:rPr>
              <a:t>mul</a:t>
            </a:r>
            <a:r>
              <a:rPr lang="pt-BR" b="1" dirty="0" smtClean="0">
                <a:solidFill>
                  <a:srgbClr val="000000"/>
                </a:solidFill>
                <a:latin typeface="Courier New"/>
              </a:rPr>
              <a:t> </a:t>
            </a:r>
            <a:r>
              <a:rPr lang="pt-BR" b="1" dirty="0">
                <a:solidFill>
                  <a:srgbClr val="000000"/>
                </a:solidFill>
                <a:latin typeface="Courier New"/>
              </a:rPr>
              <a:t>r1</a:t>
            </a:r>
            <a:r>
              <a:rPr lang="pt-BR" b="1" dirty="0">
                <a:solidFill>
                  <a:srgbClr val="000080"/>
                </a:solidFill>
                <a:latin typeface="Courier New"/>
              </a:rPr>
              <a:t>,</a:t>
            </a:r>
            <a:r>
              <a:rPr lang="pt-BR" b="1" dirty="0">
                <a:solidFill>
                  <a:srgbClr val="000000"/>
                </a:solidFill>
                <a:latin typeface="Courier New"/>
              </a:rPr>
              <a:t>r0</a:t>
            </a:r>
            <a:r>
              <a:rPr lang="pt-BR" b="1" dirty="0">
                <a:solidFill>
                  <a:srgbClr val="000080"/>
                </a:solidFill>
                <a:latin typeface="Courier New"/>
              </a:rPr>
              <a:t>,</a:t>
            </a:r>
            <a:r>
              <a:rPr lang="pt-BR" b="1" dirty="0">
                <a:solidFill>
                  <a:srgbClr val="000000"/>
                </a:solidFill>
                <a:latin typeface="Courier New"/>
              </a:rPr>
              <a:t>r1 </a:t>
            </a:r>
            <a:endParaRPr lang="pt-BR" b="1" dirty="0" smtClean="0">
              <a:solidFill>
                <a:srgbClr val="000000"/>
              </a:solidFill>
              <a:latin typeface="Courier New"/>
            </a:endParaRPr>
          </a:p>
          <a:p>
            <a:r>
              <a:rPr lang="pt-BR" b="1" dirty="0" smtClean="0">
                <a:solidFill>
                  <a:srgbClr val="000000"/>
                </a:solidFill>
                <a:latin typeface="Courier New"/>
              </a:rPr>
              <a:t>sw </a:t>
            </a:r>
            <a:r>
              <a:rPr lang="pt-BR" b="1" dirty="0">
                <a:solidFill>
                  <a:srgbClr val="000000"/>
                </a:solidFill>
                <a:latin typeface="Courier New"/>
              </a:rPr>
              <a:t>r1</a:t>
            </a:r>
            <a:r>
              <a:rPr lang="pt-BR" b="1" dirty="0">
                <a:solidFill>
                  <a:srgbClr val="000080"/>
                </a:solidFill>
                <a:latin typeface="Courier New"/>
              </a:rPr>
              <a:t>,</a:t>
            </a:r>
            <a:r>
              <a:rPr lang="pt-BR" b="1" dirty="0">
                <a:solidFill>
                  <a:srgbClr val="000000"/>
                </a:solidFill>
                <a:latin typeface="Courier New"/>
              </a:rPr>
              <a:t>r0</a:t>
            </a:r>
            <a:r>
              <a:rPr lang="pt-BR" b="1" dirty="0">
                <a:solidFill>
                  <a:srgbClr val="000080"/>
                </a:solidFill>
                <a:latin typeface="Courier New"/>
              </a:rPr>
              <a:t>,</a:t>
            </a:r>
            <a:r>
              <a:rPr lang="pt-BR" b="1" dirty="0">
                <a:solidFill>
                  <a:srgbClr val="FF8000"/>
                </a:solidFill>
                <a:latin typeface="Courier New"/>
              </a:rPr>
              <a:t>0</a:t>
            </a:r>
            <a:r>
              <a:rPr lang="pt-BR" b="1" dirty="0">
                <a:solidFill>
                  <a:srgbClr val="000000"/>
                </a:solidFill>
                <a:latin typeface="Courier New"/>
              </a:rPr>
              <a:t> </a:t>
            </a:r>
            <a:endParaRPr lang="pt-BR" b="1" dirty="0" smtClean="0">
              <a:solidFill>
                <a:srgbClr val="000000"/>
              </a:solidFill>
              <a:latin typeface="Courier New"/>
            </a:endParaRPr>
          </a:p>
          <a:p>
            <a:r>
              <a:rPr lang="pt-BR" b="1" dirty="0" smtClean="0">
                <a:solidFill>
                  <a:srgbClr val="000000"/>
                </a:solidFill>
                <a:latin typeface="Courier New"/>
              </a:rPr>
              <a:t>lw </a:t>
            </a:r>
            <a:r>
              <a:rPr lang="pt-BR" b="1" dirty="0">
                <a:solidFill>
                  <a:srgbClr val="000000"/>
                </a:solidFill>
                <a:latin typeface="Courier New"/>
              </a:rPr>
              <a:t>r2</a:t>
            </a:r>
            <a:r>
              <a:rPr lang="pt-BR" b="1" dirty="0">
                <a:solidFill>
                  <a:srgbClr val="000080"/>
                </a:solidFill>
                <a:latin typeface="Courier New"/>
              </a:rPr>
              <a:t>,</a:t>
            </a:r>
            <a:r>
              <a:rPr lang="pt-BR" b="1" dirty="0">
                <a:solidFill>
                  <a:srgbClr val="000000"/>
                </a:solidFill>
                <a:latin typeface="Courier New"/>
              </a:rPr>
              <a:t>r0</a:t>
            </a:r>
            <a:r>
              <a:rPr lang="pt-BR" b="1" dirty="0">
                <a:solidFill>
                  <a:srgbClr val="000080"/>
                </a:solidFill>
                <a:latin typeface="Courier New"/>
              </a:rPr>
              <a:t>,</a:t>
            </a:r>
            <a:r>
              <a:rPr lang="pt-BR" b="1" dirty="0">
                <a:solidFill>
                  <a:srgbClr val="FF8000"/>
                </a:solidFill>
                <a:latin typeface="Courier New"/>
              </a:rPr>
              <a:t>0</a:t>
            </a:r>
            <a:r>
              <a:rPr lang="pt-BR" b="1" dirty="0">
                <a:solidFill>
                  <a:srgbClr val="000000"/>
                </a:solidFill>
                <a:latin typeface="Courier New"/>
              </a:rPr>
              <a:t> </a:t>
            </a:r>
            <a:endParaRPr lang="pt-BR" b="1" dirty="0" smtClean="0">
              <a:solidFill>
                <a:srgbClr val="000000"/>
              </a:solidFill>
              <a:latin typeface="Courier New"/>
            </a:endParaRPr>
          </a:p>
          <a:p>
            <a:r>
              <a:rPr lang="pt-BR" b="1" dirty="0" smtClean="0">
                <a:solidFill>
                  <a:srgbClr val="000000"/>
                </a:solidFill>
                <a:latin typeface="Courier New"/>
              </a:rPr>
              <a:t>beq </a:t>
            </a:r>
            <a:r>
              <a:rPr lang="pt-BR" b="1" dirty="0">
                <a:solidFill>
                  <a:srgbClr val="000000"/>
                </a:solidFill>
                <a:latin typeface="Courier New"/>
              </a:rPr>
              <a:t>r1</a:t>
            </a:r>
            <a:r>
              <a:rPr lang="pt-BR" b="1" dirty="0">
                <a:solidFill>
                  <a:srgbClr val="000080"/>
                </a:solidFill>
                <a:latin typeface="Courier New"/>
              </a:rPr>
              <a:t>,</a:t>
            </a:r>
            <a:r>
              <a:rPr lang="pt-BR" b="1" dirty="0">
                <a:solidFill>
                  <a:srgbClr val="000000"/>
                </a:solidFill>
                <a:latin typeface="Courier New"/>
              </a:rPr>
              <a:t>r2</a:t>
            </a:r>
            <a:r>
              <a:rPr lang="pt-BR" b="1" dirty="0">
                <a:solidFill>
                  <a:srgbClr val="000080"/>
                </a:solidFill>
                <a:latin typeface="Courier New"/>
              </a:rPr>
              <a:t>,</a:t>
            </a:r>
            <a:r>
              <a:rPr lang="pt-BR" b="1" dirty="0">
                <a:solidFill>
                  <a:srgbClr val="FF8000"/>
                </a:solidFill>
                <a:latin typeface="Courier New"/>
              </a:rPr>
              <a:t>7</a:t>
            </a:r>
            <a:r>
              <a:rPr lang="pt-BR" b="1" dirty="0">
                <a:solidFill>
                  <a:srgbClr val="000000"/>
                </a:solidFill>
                <a:latin typeface="Courier New"/>
              </a:rPr>
              <a:t> </a:t>
            </a:r>
            <a:endParaRPr lang="pt-BR" b="1" dirty="0" smtClean="0">
              <a:solidFill>
                <a:srgbClr val="000000"/>
              </a:solidFill>
              <a:latin typeface="Courier New"/>
            </a:endParaRPr>
          </a:p>
          <a:p>
            <a:r>
              <a:rPr lang="pt-BR" b="1" dirty="0" smtClean="0">
                <a:solidFill>
                  <a:srgbClr val="000000"/>
                </a:solidFill>
                <a:latin typeface="Courier New"/>
              </a:rPr>
              <a:t>ble </a:t>
            </a:r>
            <a:endParaRPr lang="pt-BR" b="1" dirty="0" smtClean="0">
              <a:solidFill>
                <a:srgbClr val="000000"/>
              </a:solidFill>
              <a:latin typeface="Courier New"/>
            </a:endParaRPr>
          </a:p>
          <a:p>
            <a:r>
              <a:rPr lang="pt-BR" b="1" dirty="0" smtClean="0">
                <a:solidFill>
                  <a:srgbClr val="000000"/>
                </a:solidFill>
                <a:latin typeface="Courier New"/>
              </a:rPr>
              <a:t>ble </a:t>
            </a:r>
            <a:endParaRPr lang="pt-BR" b="1" dirty="0" smtClean="0">
              <a:solidFill>
                <a:srgbClr val="000000"/>
              </a:solidFill>
              <a:latin typeface="Courier New"/>
            </a:endParaRPr>
          </a:p>
          <a:p>
            <a:r>
              <a:rPr lang="pt-BR" b="1" dirty="0" smtClean="0">
                <a:solidFill>
                  <a:srgbClr val="000000"/>
                </a:solidFill>
                <a:latin typeface="Courier New"/>
              </a:rPr>
              <a:t>ble </a:t>
            </a:r>
            <a:endParaRPr lang="pt-BR" b="1" dirty="0" smtClean="0">
              <a:solidFill>
                <a:srgbClr val="000000"/>
              </a:solidFill>
              <a:latin typeface="Courier New"/>
            </a:endParaRPr>
          </a:p>
          <a:p>
            <a:r>
              <a:rPr lang="pt-BR" b="1" dirty="0" smtClean="0">
                <a:solidFill>
                  <a:srgbClr val="000000"/>
                </a:solidFill>
                <a:latin typeface="Courier New"/>
              </a:rPr>
              <a:t>addi </a:t>
            </a:r>
            <a:r>
              <a:rPr lang="pt-BR" b="1" dirty="0">
                <a:solidFill>
                  <a:srgbClr val="000000"/>
                </a:solidFill>
                <a:latin typeface="Courier New"/>
              </a:rPr>
              <a:t>r3</a:t>
            </a:r>
            <a:r>
              <a:rPr lang="pt-BR" b="1" dirty="0">
                <a:solidFill>
                  <a:srgbClr val="000080"/>
                </a:solidFill>
                <a:latin typeface="Courier New"/>
              </a:rPr>
              <a:t>,</a:t>
            </a:r>
            <a:r>
              <a:rPr lang="pt-BR" b="1" dirty="0">
                <a:solidFill>
                  <a:srgbClr val="000000"/>
                </a:solidFill>
                <a:latin typeface="Courier New"/>
              </a:rPr>
              <a:t>r0</a:t>
            </a:r>
            <a:r>
              <a:rPr lang="pt-BR" b="1" dirty="0">
                <a:solidFill>
                  <a:srgbClr val="000080"/>
                </a:solidFill>
                <a:latin typeface="Courier New"/>
              </a:rPr>
              <a:t>,</a:t>
            </a:r>
            <a:r>
              <a:rPr lang="pt-BR" b="1" dirty="0">
                <a:solidFill>
                  <a:srgbClr val="FF8000"/>
                </a:solidFill>
                <a:latin typeface="Courier New"/>
              </a:rPr>
              <a:t>7</a:t>
            </a:r>
            <a:r>
              <a:rPr lang="pt-BR" b="1" dirty="0">
                <a:solidFill>
                  <a:srgbClr val="000000"/>
                </a:solidFill>
                <a:latin typeface="Courier New"/>
              </a:rPr>
              <a:t> </a:t>
            </a:r>
            <a:endParaRPr lang="pt-BR" b="1" dirty="0" smtClean="0">
              <a:solidFill>
                <a:srgbClr val="000000"/>
              </a:solidFill>
              <a:latin typeface="Courier New"/>
            </a:endParaRPr>
          </a:p>
          <a:p>
            <a:r>
              <a:rPr lang="pt-BR" b="1" dirty="0" smtClean="0">
                <a:solidFill>
                  <a:srgbClr val="0000FF"/>
                </a:solidFill>
                <a:latin typeface="Courier New"/>
              </a:rPr>
              <a:t>add</a:t>
            </a:r>
            <a:r>
              <a:rPr lang="pt-BR" b="1" dirty="0" smtClean="0">
                <a:solidFill>
                  <a:srgbClr val="000000"/>
                </a:solidFill>
                <a:latin typeface="Courier New"/>
              </a:rPr>
              <a:t> </a:t>
            </a:r>
            <a:r>
              <a:rPr lang="pt-BR" b="1" dirty="0">
                <a:solidFill>
                  <a:srgbClr val="000000"/>
                </a:solidFill>
                <a:latin typeface="Courier New"/>
              </a:rPr>
              <a:t>r2</a:t>
            </a:r>
            <a:r>
              <a:rPr lang="pt-BR" b="1" dirty="0">
                <a:solidFill>
                  <a:srgbClr val="000080"/>
                </a:solidFill>
                <a:latin typeface="Courier New"/>
              </a:rPr>
              <a:t>,</a:t>
            </a:r>
            <a:r>
              <a:rPr lang="pt-BR" b="1" dirty="0">
                <a:solidFill>
                  <a:srgbClr val="000000"/>
                </a:solidFill>
                <a:latin typeface="Courier New"/>
              </a:rPr>
              <a:t>r2</a:t>
            </a:r>
            <a:r>
              <a:rPr lang="pt-BR" b="1" dirty="0">
                <a:solidFill>
                  <a:srgbClr val="000080"/>
                </a:solidFill>
                <a:latin typeface="Courier New"/>
              </a:rPr>
              <a:t>,</a:t>
            </a:r>
            <a:r>
              <a:rPr lang="pt-BR" b="1" dirty="0">
                <a:solidFill>
                  <a:srgbClr val="000000"/>
                </a:solidFill>
                <a:latin typeface="Courier New"/>
              </a:rPr>
              <a:t>r3 </a:t>
            </a:r>
            <a:endParaRPr lang="pt-BR" b="1" dirty="0" smtClean="0">
              <a:solidFill>
                <a:srgbClr val="000000"/>
              </a:solidFill>
              <a:latin typeface="Courier New"/>
            </a:endParaRPr>
          </a:p>
          <a:p>
            <a:r>
              <a:rPr lang="pt-BR" b="1" dirty="0" smtClean="0">
                <a:solidFill>
                  <a:srgbClr val="0000FF"/>
                </a:solidFill>
                <a:latin typeface="Courier New"/>
              </a:rPr>
              <a:t>sub</a:t>
            </a:r>
            <a:r>
              <a:rPr lang="pt-BR" b="1" dirty="0" smtClean="0">
                <a:solidFill>
                  <a:srgbClr val="000000"/>
                </a:solidFill>
                <a:latin typeface="Courier New"/>
              </a:rPr>
              <a:t> </a:t>
            </a:r>
            <a:r>
              <a:rPr lang="pt-BR" b="1" dirty="0">
                <a:solidFill>
                  <a:srgbClr val="000000"/>
                </a:solidFill>
                <a:latin typeface="Courier New"/>
              </a:rPr>
              <a:t>r2 r2 r1 </a:t>
            </a:r>
            <a:endParaRPr lang="pt-BR" b="1" dirty="0" smtClean="0">
              <a:solidFill>
                <a:srgbClr val="000000"/>
              </a:solidFill>
              <a:latin typeface="Courier New"/>
            </a:endParaRPr>
          </a:p>
          <a:p>
            <a:r>
              <a:rPr lang="pt-BR" b="1" dirty="0" smtClean="0">
                <a:solidFill>
                  <a:srgbClr val="0000FF"/>
                </a:solidFill>
                <a:latin typeface="Courier New"/>
              </a:rPr>
              <a:t>mul</a:t>
            </a:r>
            <a:r>
              <a:rPr lang="pt-BR" b="1" dirty="0" smtClean="0">
                <a:solidFill>
                  <a:srgbClr val="000000"/>
                </a:solidFill>
                <a:latin typeface="Courier New"/>
              </a:rPr>
              <a:t> </a:t>
            </a:r>
            <a:r>
              <a:rPr lang="pt-BR" b="1" dirty="0">
                <a:solidFill>
                  <a:srgbClr val="000000"/>
                </a:solidFill>
                <a:latin typeface="Courier New"/>
              </a:rPr>
              <a:t>r2 r2 r2 </a:t>
            </a:r>
            <a:endParaRPr lang="pt-BR" b="1" dirty="0" smtClean="0">
              <a:solidFill>
                <a:srgbClr val="000000"/>
              </a:solidFill>
              <a:latin typeface="Courier New"/>
            </a:endParaRPr>
          </a:p>
          <a:p>
            <a:r>
              <a:rPr lang="pt-BR" b="1" dirty="0" smtClean="0">
                <a:solidFill>
                  <a:srgbClr val="0000FF"/>
                </a:solidFill>
                <a:latin typeface="Courier New"/>
              </a:rPr>
              <a:t>mul</a:t>
            </a:r>
            <a:r>
              <a:rPr lang="pt-BR" b="1" dirty="0" smtClean="0">
                <a:solidFill>
                  <a:srgbClr val="000000"/>
                </a:solidFill>
                <a:latin typeface="Courier New"/>
              </a:rPr>
              <a:t> </a:t>
            </a:r>
            <a:r>
              <a:rPr lang="pt-BR" b="1" dirty="0">
                <a:solidFill>
                  <a:srgbClr val="000000"/>
                </a:solidFill>
                <a:latin typeface="Courier New"/>
              </a:rPr>
              <a:t>r2 r2 r2 </a:t>
            </a:r>
            <a:endParaRPr lang="pt-BR" b="1" dirty="0" smtClean="0">
              <a:solidFill>
                <a:srgbClr val="000000"/>
              </a:solidFill>
              <a:latin typeface="Courier New"/>
            </a:endParaRPr>
          </a:p>
          <a:p>
            <a:r>
              <a:rPr lang="pt-BR" b="1" dirty="0" smtClean="0">
                <a:solidFill>
                  <a:srgbClr val="000000"/>
                </a:solidFill>
                <a:latin typeface="Courier New"/>
              </a:rPr>
              <a:t>j </a:t>
            </a:r>
            <a:r>
              <a:rPr lang="pt-BR" b="1" dirty="0">
                <a:solidFill>
                  <a:srgbClr val="FF8000"/>
                </a:solidFill>
                <a:latin typeface="Courier New"/>
              </a:rPr>
              <a:t>8</a:t>
            </a:r>
            <a:r>
              <a:rPr lang="pt-BR" b="1" dirty="0">
                <a:solidFill>
                  <a:srgbClr val="000000"/>
                </a:solidFill>
                <a:latin typeface="Courier New"/>
              </a:rPr>
              <a:t> </a:t>
            </a:r>
            <a:endParaRPr lang="pt-BR" b="1" dirty="0" smtClean="0">
              <a:solidFill>
                <a:srgbClr val="000000"/>
              </a:solidFill>
              <a:latin typeface="Courier New"/>
            </a:endParaRPr>
          </a:p>
          <a:p>
            <a:r>
              <a:rPr lang="pt-BR" b="1" dirty="0" smtClean="0">
                <a:solidFill>
                  <a:srgbClr val="000000"/>
                </a:solidFill>
                <a:latin typeface="Courier New"/>
              </a:rPr>
              <a:t>ble </a:t>
            </a:r>
            <a:endParaRPr lang="pt-BR" b="1" dirty="0" smtClean="0">
              <a:solidFill>
                <a:srgbClr val="000000"/>
              </a:solidFill>
              <a:latin typeface="Courier New"/>
            </a:endParaRPr>
          </a:p>
          <a:p>
            <a:r>
              <a:rPr lang="pt-BR" b="1" dirty="0" smtClean="0">
                <a:solidFill>
                  <a:srgbClr val="000000"/>
                </a:solidFill>
                <a:latin typeface="Courier New"/>
              </a:rPr>
              <a:t>ble </a:t>
            </a:r>
            <a:endParaRPr lang="pt-BR" b="1" dirty="0" smtClean="0">
              <a:solidFill>
                <a:srgbClr val="000000"/>
              </a:solidFill>
              <a:latin typeface="Courier New"/>
            </a:endParaRPr>
          </a:p>
          <a:p>
            <a:r>
              <a:rPr lang="pt-BR" b="1" dirty="0" smtClean="0">
                <a:solidFill>
                  <a:srgbClr val="000000"/>
                </a:solidFill>
                <a:latin typeface="Courier New"/>
              </a:rPr>
              <a:t>Ble</a:t>
            </a:r>
            <a:endParaRPr lang="pt-BR" b="1" dirty="0" smtClean="0">
              <a:solidFill>
                <a:srgbClr val="000000"/>
              </a:solidFill>
              <a:latin typeface="Courier New"/>
            </a:endParaRPr>
          </a:p>
          <a:p>
            <a:r>
              <a:rPr lang="pt-BR" b="1" dirty="0" smtClean="0">
                <a:solidFill>
                  <a:srgbClr val="000000"/>
                </a:solidFill>
                <a:effectLst/>
                <a:latin typeface="Courier New"/>
              </a:rPr>
              <a:t>......</a:t>
            </a:r>
            <a:endParaRPr lang="pt-BR" b="1" dirty="0">
              <a:effectLst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5292080" y="2765945"/>
            <a:ext cx="2520280" cy="879080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圆角矩形 16"/>
          <p:cNvSpPr/>
          <p:nvPr/>
        </p:nvSpPr>
        <p:spPr>
          <a:xfrm>
            <a:off x="5292080" y="5280159"/>
            <a:ext cx="2520280" cy="813137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椭圆 14"/>
          <p:cNvSpPr/>
          <p:nvPr/>
        </p:nvSpPr>
        <p:spPr>
          <a:xfrm>
            <a:off x="1691413" y="3223316"/>
            <a:ext cx="336215" cy="34505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椭圆 18"/>
          <p:cNvSpPr/>
          <p:nvPr/>
        </p:nvSpPr>
        <p:spPr>
          <a:xfrm>
            <a:off x="2371160" y="4596578"/>
            <a:ext cx="336215" cy="34505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椭圆 19"/>
          <p:cNvSpPr/>
          <p:nvPr/>
        </p:nvSpPr>
        <p:spPr>
          <a:xfrm>
            <a:off x="5868144" y="4941635"/>
            <a:ext cx="336215" cy="34505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椭圆 20"/>
          <p:cNvSpPr/>
          <p:nvPr/>
        </p:nvSpPr>
        <p:spPr>
          <a:xfrm>
            <a:off x="6951048" y="2420888"/>
            <a:ext cx="336215" cy="34505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1" dur="2000" fill="hold"/>
                                        <p:tgtEl>
                                          <p:spTgt spid="1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3" dur="2000" fill="hold"/>
                                        <p:tgtEl>
                                          <p:spTgt spid="1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5" dur="2000" fill="hold"/>
                                        <p:tgtEl>
                                          <p:spTgt spid="2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2" dur="2000" fill="hold"/>
                                        <p:tgtEl>
                                          <p:spTgt spid="2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 animBg="1"/>
      <p:bldP spid="12" grpId="0"/>
      <p:bldP spid="13" grpId="0" animBg="1"/>
      <p:bldP spid="17" grpId="0" animBg="1"/>
      <p:bldP spid="15" grpId="0" animBg="1"/>
      <p:bldP spid="19" grpId="0" animBg="1"/>
      <p:bldP spid="20" grpId="0" animBg="1"/>
      <p:bldP spid="21" grpId="0" animBg="1"/>
      <p:bldP spid="21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0582" y="544488"/>
            <a:ext cx="487004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700" dirty="0"/>
              <a:t>I</a:t>
            </a:r>
            <a:r>
              <a:rPr lang="en-US" sz="2700" dirty="0" smtClean="0"/>
              <a:t>mplementation</a:t>
            </a:r>
            <a:endParaRPr lang="en-US" sz="2700" dirty="0"/>
          </a:p>
        </p:txBody>
      </p:sp>
      <p:sp>
        <p:nvSpPr>
          <p:cNvPr id="8" name="圆角矩形 7"/>
          <p:cNvSpPr/>
          <p:nvPr/>
        </p:nvSpPr>
        <p:spPr>
          <a:xfrm>
            <a:off x="539552" y="1052319"/>
            <a:ext cx="6408712" cy="302475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err="1" smtClean="0"/>
              <a:t>Foreach</a:t>
            </a:r>
            <a:r>
              <a:rPr lang="en-US" dirty="0" smtClean="0"/>
              <a:t> line in </a:t>
            </a:r>
            <a:r>
              <a:rPr lang="en-US" dirty="0" err="1" smtClean="0"/>
              <a:t>sourcefile</a:t>
            </a:r>
            <a:endParaRPr lang="en-US" dirty="0"/>
          </a:p>
          <a:p>
            <a:r>
              <a:rPr lang="en-US" dirty="0" smtClean="0"/>
              <a:t>{</a:t>
            </a:r>
            <a:endParaRPr lang="en-US" dirty="0" smtClean="0"/>
          </a:p>
          <a:p>
            <a:r>
              <a:rPr lang="en-US" dirty="0" err="1" smtClean="0"/>
              <a:t>readline</a:t>
            </a:r>
            <a:r>
              <a:rPr lang="en-US" dirty="0" smtClean="0"/>
              <a:t>=&gt; </a:t>
            </a:r>
            <a:r>
              <a:rPr lang="en-US" dirty="0"/>
              <a:t>$</a:t>
            </a:r>
            <a:r>
              <a:rPr lang="en-US" dirty="0" err="1"/>
              <a:t>opcode</a:t>
            </a:r>
            <a:r>
              <a:rPr lang="en-US" dirty="0"/>
              <a:t>, $</a:t>
            </a:r>
            <a:r>
              <a:rPr lang="en-US" dirty="0" err="1"/>
              <a:t>destC</a:t>
            </a:r>
            <a:r>
              <a:rPr lang="en-US" dirty="0"/>
              <a:t>, $</a:t>
            </a:r>
            <a:r>
              <a:rPr lang="en-US" dirty="0" err="1"/>
              <a:t>sourceA</a:t>
            </a:r>
            <a:r>
              <a:rPr lang="en-US" dirty="0"/>
              <a:t>, $</a:t>
            </a:r>
            <a:r>
              <a:rPr lang="en-US" dirty="0" err="1" smtClean="0"/>
              <a:t>sourceB</a:t>
            </a:r>
            <a:r>
              <a:rPr lang="en-US" dirty="0" smtClean="0"/>
              <a:t>;</a:t>
            </a:r>
            <a:endParaRPr lang="en-US" dirty="0" smtClean="0"/>
          </a:p>
          <a:p>
            <a:r>
              <a:rPr lang="en-US" dirty="0" err="1" smtClean="0"/>
              <a:t>Output_array</a:t>
            </a:r>
            <a:r>
              <a:rPr lang="en-US" dirty="0" smtClean="0"/>
              <a:t>[line]=(</a:t>
            </a:r>
            <a:r>
              <a:rPr lang="en-US" dirty="0"/>
              <a:t>$</a:t>
            </a:r>
            <a:r>
              <a:rPr lang="en-US" dirty="0" err="1"/>
              <a:t>opcode</a:t>
            </a:r>
            <a:r>
              <a:rPr lang="en-US" dirty="0"/>
              <a:t>, $</a:t>
            </a:r>
            <a:r>
              <a:rPr lang="en-US" dirty="0" err="1"/>
              <a:t>destC</a:t>
            </a:r>
            <a:r>
              <a:rPr lang="en-US" dirty="0"/>
              <a:t>, $</a:t>
            </a:r>
            <a:r>
              <a:rPr lang="en-US" dirty="0" err="1"/>
              <a:t>sourceA</a:t>
            </a:r>
            <a:r>
              <a:rPr lang="en-US" dirty="0"/>
              <a:t>, $</a:t>
            </a:r>
            <a:r>
              <a:rPr lang="en-US" dirty="0" err="1"/>
              <a:t>sourceB</a:t>
            </a:r>
            <a:r>
              <a:rPr lang="en-US" dirty="0" smtClean="0"/>
              <a:t>;)</a:t>
            </a:r>
            <a:endParaRPr lang="en-US" dirty="0" smtClean="0"/>
          </a:p>
          <a:p>
            <a:r>
              <a:rPr lang="en-US" dirty="0" smtClean="0"/>
              <a:t>PC++;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If(</a:t>
            </a:r>
            <a:r>
              <a:rPr lang="en-US" dirty="0" err="1" smtClean="0"/>
              <a:t>opcode</a:t>
            </a:r>
            <a:r>
              <a:rPr lang="en-US" dirty="0" smtClean="0"/>
              <a:t> in </a:t>
            </a:r>
            <a:r>
              <a:rPr lang="en-US" dirty="0" err="1" smtClean="0"/>
              <a:t>op_add_bubble</a:t>
            </a:r>
            <a:r>
              <a:rPr lang="en-US" dirty="0" smtClean="0"/>
              <a:t>[]) </a:t>
            </a:r>
            <a:r>
              <a:rPr lang="en-US" dirty="0" err="1" smtClean="0"/>
              <a:t>add_ble</a:t>
            </a:r>
            <a:r>
              <a:rPr lang="en-US" dirty="0" smtClean="0"/>
              <a:t> pc++;</a:t>
            </a:r>
            <a:endParaRPr lang="en-US" dirty="0" smtClean="0"/>
          </a:p>
          <a:p>
            <a:r>
              <a:rPr lang="en-US" dirty="0"/>
              <a:t>If(</a:t>
            </a:r>
            <a:r>
              <a:rPr lang="en-US" dirty="0" err="1"/>
              <a:t>opcode</a:t>
            </a:r>
            <a:r>
              <a:rPr lang="en-US" dirty="0"/>
              <a:t> in </a:t>
            </a:r>
            <a:r>
              <a:rPr lang="en-US" dirty="0" err="1" smtClean="0"/>
              <a:t>op_has_offset</a:t>
            </a:r>
            <a:r>
              <a:rPr lang="en-US" dirty="0" smtClean="0"/>
              <a:t>[])  store line to </a:t>
            </a:r>
            <a:r>
              <a:rPr lang="en-US" dirty="0" err="1" smtClean="0"/>
              <a:t>chang_offset</a:t>
            </a:r>
            <a:r>
              <a:rPr lang="en-US" dirty="0" smtClean="0"/>
              <a:t>[];</a:t>
            </a:r>
            <a:endParaRPr lang="en-US" dirty="0" smtClean="0"/>
          </a:p>
          <a:p>
            <a:endParaRPr lang="en-US" dirty="0"/>
          </a:p>
          <a:p>
            <a:r>
              <a:rPr lang="en-US" dirty="0" err="1" smtClean="0"/>
              <a:t>Tansfer</a:t>
            </a:r>
            <a:r>
              <a:rPr lang="en-US" dirty="0" smtClean="0"/>
              <a:t>[line] = </a:t>
            </a:r>
            <a:r>
              <a:rPr lang="en-US" dirty="0" err="1" smtClean="0"/>
              <a:t>new_pc</a:t>
            </a:r>
            <a:endParaRPr lang="en-US" dirty="0"/>
          </a:p>
          <a:p>
            <a:r>
              <a:rPr lang="en-US" dirty="0" smtClean="0"/>
              <a:t>}</a:t>
            </a:r>
            <a:endParaRPr lang="en-US" dirty="0"/>
          </a:p>
        </p:txBody>
      </p:sp>
      <p:sp>
        <p:nvSpPr>
          <p:cNvPr id="9" name="圆角矩形 8"/>
          <p:cNvSpPr/>
          <p:nvPr/>
        </p:nvSpPr>
        <p:spPr>
          <a:xfrm>
            <a:off x="539552" y="4246204"/>
            <a:ext cx="6408712" cy="112701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err="1" smtClean="0"/>
              <a:t>Foreach</a:t>
            </a:r>
            <a:r>
              <a:rPr lang="en-US" dirty="0" smtClean="0"/>
              <a:t> line in </a:t>
            </a:r>
            <a:r>
              <a:rPr lang="en-US" dirty="0" err="1" smtClean="0"/>
              <a:t>change_offset</a:t>
            </a:r>
            <a:r>
              <a:rPr lang="en-US" dirty="0" smtClean="0"/>
              <a:t> {</a:t>
            </a:r>
            <a:endParaRPr lang="en-US" dirty="0" smtClean="0"/>
          </a:p>
          <a:p>
            <a:r>
              <a:rPr lang="en-US" dirty="0" smtClean="0"/>
              <a:t>	</a:t>
            </a:r>
            <a:r>
              <a:rPr lang="en-US" dirty="0" err="1" smtClean="0"/>
              <a:t>adjust_offset</a:t>
            </a:r>
            <a:r>
              <a:rPr lang="en-US" dirty="0" smtClean="0"/>
              <a:t>();</a:t>
            </a:r>
            <a:br>
              <a:rPr lang="en-US" dirty="0" smtClean="0"/>
            </a:br>
            <a:r>
              <a:rPr lang="en-US" dirty="0" smtClean="0"/>
              <a:t>}</a:t>
            </a:r>
            <a:endParaRPr lang="en-US" dirty="0"/>
          </a:p>
        </p:txBody>
      </p:sp>
      <p:sp>
        <p:nvSpPr>
          <p:cNvPr id="10" name="圆角矩形 9"/>
          <p:cNvSpPr/>
          <p:nvPr/>
        </p:nvSpPr>
        <p:spPr>
          <a:xfrm>
            <a:off x="539552" y="5517232"/>
            <a:ext cx="6408712" cy="112701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err="1" smtClean="0"/>
              <a:t>Foreach</a:t>
            </a:r>
            <a:r>
              <a:rPr lang="en-US" dirty="0" smtClean="0"/>
              <a:t> pc in </a:t>
            </a:r>
            <a:r>
              <a:rPr lang="en-US" dirty="0" err="1" smtClean="0"/>
              <a:t>output_array</a:t>
            </a:r>
            <a:r>
              <a:rPr lang="en-US" dirty="0" smtClean="0"/>
              <a:t>{</a:t>
            </a:r>
            <a:endParaRPr lang="en-US" dirty="0" smtClean="0"/>
          </a:p>
          <a:p>
            <a:r>
              <a:rPr lang="en-US" dirty="0" smtClean="0"/>
              <a:t>	</a:t>
            </a:r>
            <a:r>
              <a:rPr lang="en-US" dirty="0"/>
              <a:t>output  </a:t>
            </a:r>
            <a:r>
              <a:rPr lang="en-US" dirty="0" smtClean="0"/>
              <a:t>$</a:t>
            </a:r>
            <a:r>
              <a:rPr lang="en-US" dirty="0" err="1"/>
              <a:t>opcode</a:t>
            </a:r>
            <a:r>
              <a:rPr lang="en-US" dirty="0"/>
              <a:t>, $</a:t>
            </a:r>
            <a:r>
              <a:rPr lang="en-US" dirty="0" err="1"/>
              <a:t>destC</a:t>
            </a:r>
            <a:r>
              <a:rPr lang="en-US" dirty="0"/>
              <a:t>, $</a:t>
            </a:r>
            <a:r>
              <a:rPr lang="en-US" dirty="0" err="1"/>
              <a:t>sourceA</a:t>
            </a:r>
            <a:r>
              <a:rPr lang="en-US" dirty="0"/>
              <a:t>, $</a:t>
            </a:r>
            <a:r>
              <a:rPr lang="en-US" dirty="0" err="1" smtClean="0"/>
              <a:t>sourceB</a:t>
            </a:r>
            <a:r>
              <a:rPr lang="en-US" dirty="0" smtClean="0"/>
              <a:t>;</a:t>
            </a:r>
            <a:br>
              <a:rPr lang="en-US" dirty="0" smtClean="0"/>
            </a:br>
            <a:r>
              <a:rPr lang="en-US" dirty="0" smtClean="0"/>
              <a:t>}</a:t>
            </a:r>
            <a:endParaRPr lang="en-US" dirty="0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6372200" y="183639"/>
          <a:ext cx="2592288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0889"/>
                <a:gridCol w="1421399"/>
              </a:tblGrid>
              <a:tr h="636702">
                <a:tc>
                  <a:txBody>
                    <a:bodyPr/>
                    <a:lstStyle/>
                    <a:p>
                      <a:r>
                        <a:rPr lang="en-US" dirty="0" smtClean="0"/>
                        <a:t>Key</a:t>
                      </a:r>
                      <a:endParaRPr lang="en-US" dirty="0" smtClean="0"/>
                    </a:p>
                    <a:p>
                      <a:r>
                        <a:rPr lang="en-US" dirty="0" smtClean="0"/>
                        <a:t>(</a:t>
                      </a:r>
                      <a:r>
                        <a:rPr lang="en-US" dirty="0" err="1" smtClean="0"/>
                        <a:t>opcode</a:t>
                      </a:r>
                      <a:r>
                        <a:rPr lang="en-US" dirty="0" smtClean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Value</a:t>
                      </a:r>
                      <a:endParaRPr lang="en-US" dirty="0" smtClean="0"/>
                    </a:p>
                    <a:p>
                      <a:r>
                        <a:rPr lang="en-US" dirty="0" smtClean="0"/>
                        <a:t>(bubble #)</a:t>
                      </a:r>
                      <a:endParaRPr lang="en-US" dirty="0"/>
                    </a:p>
                  </a:txBody>
                  <a:tcPr/>
                </a:tc>
              </a:tr>
              <a:tr h="363830">
                <a:tc>
                  <a:txBody>
                    <a:bodyPr/>
                    <a:lstStyle/>
                    <a:p>
                      <a:r>
                        <a:rPr lang="en-US" dirty="0" smtClean="0"/>
                        <a:t>Jump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  <a:tr h="36383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Beq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  <a:tr h="363830"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6200" y="533400"/>
            <a:ext cx="8991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200" y="155264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Voice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026" name="Picture 2" descr="G:\4_23\fibonacci\1.png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52" t="13445" r="29730" b="77761"/>
          <a:stretch>
            <a:fillRect/>
          </a:stretch>
        </p:blipFill>
        <p:spPr bwMode="auto">
          <a:xfrm>
            <a:off x="76200" y="581865"/>
            <a:ext cx="2151530" cy="966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G:\4_23\fibonacci\2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48" t="13294" r="39464" b="77912"/>
          <a:stretch>
            <a:fillRect/>
          </a:stretch>
        </p:blipFill>
        <p:spPr bwMode="auto">
          <a:xfrm>
            <a:off x="2267744" y="548680"/>
            <a:ext cx="1385047" cy="966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:\4_23\fibonacci\3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15" t="13355" r="38432" b="77851"/>
          <a:stretch>
            <a:fillRect/>
          </a:stretch>
        </p:blipFill>
        <p:spPr bwMode="auto">
          <a:xfrm>
            <a:off x="3707904" y="581864"/>
            <a:ext cx="1425388" cy="966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G:\4_23\fibonacci\5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737" t="13507" r="20263" b="77471"/>
          <a:stretch>
            <a:fillRect/>
          </a:stretch>
        </p:blipFill>
        <p:spPr bwMode="auto">
          <a:xfrm>
            <a:off x="5169768" y="548680"/>
            <a:ext cx="914400" cy="991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:\4_23\fibonacci\8.pn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578" t="13885" r="18804" b="75772"/>
          <a:stretch>
            <a:fillRect/>
          </a:stretch>
        </p:blipFill>
        <p:spPr bwMode="auto">
          <a:xfrm>
            <a:off x="6156176" y="533400"/>
            <a:ext cx="1008529" cy="1136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G:\4_23\fibonacci\13_21.png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86" t="13739" r="52573" b="77305"/>
          <a:stretch>
            <a:fillRect/>
          </a:stretch>
        </p:blipFill>
        <p:spPr bwMode="auto">
          <a:xfrm>
            <a:off x="7193513" y="576669"/>
            <a:ext cx="753035" cy="984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G:\4_23\fibonacci\13_21.png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45" t="12346" r="9155" b="78698"/>
          <a:stretch>
            <a:fillRect/>
          </a:stretch>
        </p:blipFill>
        <p:spPr bwMode="auto">
          <a:xfrm>
            <a:off x="8126507" y="576669"/>
            <a:ext cx="914400" cy="984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G:\4_23\fibonacci\34_55.pn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907" t="12351" r="51360" b="77104"/>
          <a:stretch>
            <a:fillRect/>
          </a:stretch>
        </p:blipFill>
        <p:spPr bwMode="auto">
          <a:xfrm>
            <a:off x="76200" y="1670341"/>
            <a:ext cx="721332" cy="115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:\4_23\fibonacci\34_55.pn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645" t="13833" r="8208" b="75735"/>
          <a:stretch>
            <a:fillRect/>
          </a:stretch>
        </p:blipFill>
        <p:spPr bwMode="auto">
          <a:xfrm>
            <a:off x="876300" y="1717806"/>
            <a:ext cx="784413" cy="1146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 descr="G:\4_23\fibonacci\89_144.png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605" t="12899" r="49236" b="75991"/>
          <a:stretch>
            <a:fillRect/>
          </a:stretch>
        </p:blipFill>
        <p:spPr bwMode="auto">
          <a:xfrm>
            <a:off x="1701516" y="1670341"/>
            <a:ext cx="786274" cy="1221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G:\4_23\fibonacci\89_144.png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732" t="13097" r="5634" b="76312"/>
          <a:stretch>
            <a:fillRect/>
          </a:stretch>
        </p:blipFill>
        <p:spPr bwMode="auto">
          <a:xfrm>
            <a:off x="2530965" y="1676029"/>
            <a:ext cx="858604" cy="1164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7498" y="1717806"/>
            <a:ext cx="695325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8" name="Picture 14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7434" y="1739005"/>
            <a:ext cx="8001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9" name="Picture 15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776" y="1663030"/>
            <a:ext cx="9144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0" name="Picture 16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7455" y="1826600"/>
            <a:ext cx="857250" cy="10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1" name="Picture 17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9461" y="1777132"/>
            <a:ext cx="828675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2" name="Picture 18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125" y="1843088"/>
            <a:ext cx="828675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3" name="Picture 19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94" y="2900363"/>
            <a:ext cx="92392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4" name="Picture 20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404" y="2928938"/>
            <a:ext cx="8763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5" name="Picture 21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9940" y="2891558"/>
            <a:ext cx="893868" cy="1075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6" name="Picture 22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6169" y="2900363"/>
            <a:ext cx="1066800" cy="106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7" name="Picture 23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301" y="2904452"/>
            <a:ext cx="92392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34788" y="4208999"/>
            <a:ext cx="3774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Fibonacci number</a:t>
            </a:r>
            <a:endParaRPr lang="en-US" b="1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902" y="5169032"/>
            <a:ext cx="3767115" cy="1423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216" y="4578331"/>
            <a:ext cx="81915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6200" y="533400"/>
            <a:ext cx="8991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200" y="155264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The Voice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57422" y="2786058"/>
            <a:ext cx="487004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 smtClean="0"/>
              <a:t>Demo</a:t>
            </a:r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4357</Words>
  <Application>WPS Presentation</Application>
  <PresentationFormat>全屏显示(4:3)</PresentationFormat>
  <Paragraphs>875</Paragraphs>
  <Slides>29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7" baseType="lpstr">
      <vt:lpstr>Arial</vt:lpstr>
      <vt:lpstr>宋体</vt:lpstr>
      <vt:lpstr>Wingdings</vt:lpstr>
      <vt:lpstr>Nimbus Roman No9 L</vt:lpstr>
      <vt:lpstr>OpenSymbol</vt:lpstr>
      <vt:lpstr>Times New Roman</vt:lpstr>
      <vt:lpstr>Times New Roman</vt:lpstr>
      <vt:lpstr>Calibri</vt:lpstr>
      <vt:lpstr>宋体</vt:lpstr>
      <vt:lpstr>PMingLiU</vt:lpstr>
      <vt:lpstr>DejaVu Sans</vt:lpstr>
      <vt:lpstr>微软雅黑</vt:lpstr>
      <vt:lpstr>文泉驿微米黑</vt:lpstr>
      <vt:lpstr>宋体</vt:lpstr>
      <vt:lpstr>Arial Unicode MS</vt:lpstr>
      <vt:lpstr>Courier New</vt:lpstr>
      <vt:lpstr>Calibri</vt:lpstr>
      <vt:lpstr>Office Theme</vt:lpstr>
      <vt:lpstr>PowerPoint 演示文稿</vt:lpstr>
      <vt:lpstr>PowerPoint 演示文稿</vt:lpstr>
      <vt:lpstr>PowerPoint 演示文稿</vt:lpstr>
      <vt:lpstr>Instruction set:</vt:lpstr>
      <vt:lpstr>Instruction set:</vt:lpstr>
      <vt:lpstr>Instruction set: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Lang</dc:creator>
  <cp:lastModifiedBy>johnnydai</cp:lastModifiedBy>
  <cp:revision>144</cp:revision>
  <dcterms:created xsi:type="dcterms:W3CDTF">2025-12-01T05:33:50Z</dcterms:created>
  <dcterms:modified xsi:type="dcterms:W3CDTF">2025-12-01T05:33:50Z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